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3" r:id="rId4"/>
  </p:sldMasterIdLst>
  <p:notesMasterIdLst>
    <p:notesMasterId r:id="rId22"/>
  </p:notesMasterIdLst>
  <p:handoutMasterIdLst>
    <p:handoutMasterId r:id="rId23"/>
  </p:handoutMasterIdLst>
  <p:sldIdLst>
    <p:sldId id="276" r:id="rId5"/>
    <p:sldId id="257" r:id="rId6"/>
    <p:sldId id="305" r:id="rId7"/>
    <p:sldId id="279" r:id="rId8"/>
    <p:sldId id="309" r:id="rId9"/>
    <p:sldId id="256" r:id="rId10"/>
    <p:sldId id="306" r:id="rId11"/>
    <p:sldId id="307" r:id="rId12"/>
    <p:sldId id="281" r:id="rId13"/>
    <p:sldId id="299" r:id="rId14"/>
    <p:sldId id="300" r:id="rId15"/>
    <p:sldId id="304" r:id="rId16"/>
    <p:sldId id="283" r:id="rId17"/>
    <p:sldId id="301" r:id="rId18"/>
    <p:sldId id="308" r:id="rId19"/>
    <p:sldId id="303" r:id="rId20"/>
    <p:sldId id="29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6327" autoAdjust="0"/>
  </p:normalViewPr>
  <p:slideViewPr>
    <p:cSldViewPr snapToGrid="0">
      <p:cViewPr varScale="1">
        <p:scale>
          <a:sx n="59" d="100"/>
          <a:sy n="59" d="100"/>
        </p:scale>
        <p:origin x="964" y="52"/>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5933"/>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4/18/2025</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4/18/2025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a:t>
            </a:fld>
            <a:endParaRPr lang="en-US" dirty="0"/>
          </a:p>
        </p:txBody>
      </p:sp>
    </p:spTree>
    <p:extLst>
      <p:ext uri="{BB962C8B-B14F-4D97-AF65-F5344CB8AC3E}">
        <p14:creationId xmlns:p14="http://schemas.microsoft.com/office/powerpoint/2010/main" val="363090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2</a:t>
            </a:fld>
            <a:endParaRPr lang="en-US" dirty="0"/>
          </a:p>
        </p:txBody>
      </p:sp>
    </p:spTree>
    <p:extLst>
      <p:ext uri="{BB962C8B-B14F-4D97-AF65-F5344CB8AC3E}">
        <p14:creationId xmlns:p14="http://schemas.microsoft.com/office/powerpoint/2010/main" val="418880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4</a:t>
            </a:fld>
            <a:endParaRPr lang="en-US" dirty="0"/>
          </a:p>
        </p:txBody>
      </p:sp>
    </p:spTree>
    <p:extLst>
      <p:ext uri="{BB962C8B-B14F-4D97-AF65-F5344CB8AC3E}">
        <p14:creationId xmlns:p14="http://schemas.microsoft.com/office/powerpoint/2010/main" val="1237667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6</a:t>
            </a:fld>
            <a:endParaRPr lang="en-US" dirty="0"/>
          </a:p>
        </p:txBody>
      </p:sp>
    </p:spTree>
    <p:extLst>
      <p:ext uri="{BB962C8B-B14F-4D97-AF65-F5344CB8AC3E}">
        <p14:creationId xmlns:p14="http://schemas.microsoft.com/office/powerpoint/2010/main" val="4230468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9</a:t>
            </a:fld>
            <a:endParaRPr lang="en-US" dirty="0"/>
          </a:p>
        </p:txBody>
      </p:sp>
    </p:spTree>
    <p:extLst>
      <p:ext uri="{BB962C8B-B14F-4D97-AF65-F5344CB8AC3E}">
        <p14:creationId xmlns:p14="http://schemas.microsoft.com/office/powerpoint/2010/main" val="2284856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13</a:t>
            </a:fld>
            <a:endParaRPr lang="en-US" dirty="0"/>
          </a:p>
        </p:txBody>
      </p:sp>
    </p:spTree>
    <p:extLst>
      <p:ext uri="{BB962C8B-B14F-4D97-AF65-F5344CB8AC3E}">
        <p14:creationId xmlns:p14="http://schemas.microsoft.com/office/powerpoint/2010/main" val="1171570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17</a:t>
            </a:fld>
            <a:endParaRPr lang="en-US" dirty="0"/>
          </a:p>
        </p:txBody>
      </p:sp>
    </p:spTree>
    <p:extLst>
      <p:ext uri="{BB962C8B-B14F-4D97-AF65-F5344CB8AC3E}">
        <p14:creationId xmlns:p14="http://schemas.microsoft.com/office/powerpoint/2010/main" val="52409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627619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5466709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08775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292802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79818732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1272688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801261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1433412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9739318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635711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1071377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725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0C1D561-971B-43DB-A5A7-63A887A0CA6B}"/>
              </a:ext>
            </a:extLst>
          </p:cNvPr>
          <p:cNvSpPr>
            <a:spLocks noGrp="1"/>
          </p:cNvSpPr>
          <p:nvPr>
            <p:ph type="title" hasCustomPrompt="1"/>
          </p:nvPr>
        </p:nvSpPr>
        <p:spPr>
          <a:xfrm>
            <a:off x="565150" y="548640"/>
            <a:ext cx="5486400" cy="1371600"/>
          </a:xfrm>
        </p:spPr>
        <p:txBody>
          <a:bodyPr anchor="b" anchorCtr="0">
            <a:noAutofit/>
          </a:bodyPr>
          <a:lstStyle>
            <a:lvl1pPr algn="ctr">
              <a:defRPr/>
            </a:lvl1pPr>
          </a:lstStyle>
          <a:p>
            <a:pPr algn="ctr"/>
            <a:r>
              <a:rPr lang="en-US" dirty="0"/>
              <a:t>Click to add title</a:t>
            </a:r>
          </a:p>
        </p:txBody>
      </p:sp>
      <p:cxnSp>
        <p:nvCxnSpPr>
          <p:cNvPr id="9" name="Straight Connector 8">
            <a:extLst>
              <a:ext uri="{FF2B5EF4-FFF2-40B4-BE49-F238E27FC236}">
                <a16:creationId xmlns:a16="http://schemas.microsoft.com/office/drawing/2014/main" id="{8CACFD68-412E-48B4-B9EB-FEDC20A81354}"/>
              </a:ext>
              <a:ext uri="{C183D7F6-B498-43B3-948B-1728B52AA6E4}">
                <adec:decorative xmlns:adec="http://schemas.microsoft.com/office/drawing/2017/decorative" val="1"/>
              </a:ext>
            </a:extLst>
          </p:cNvPr>
          <p:cNvCxnSpPr>
            <a:cxnSpLocks/>
          </p:cNvCxnSpPr>
          <p:nvPr userDrawn="1"/>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F0731E0-58E0-4382-ADA7-A9C6DE2E7E36}"/>
              </a:ext>
            </a:extLst>
          </p:cNvPr>
          <p:cNvSpPr>
            <a:spLocks noGrp="1"/>
          </p:cNvSpPr>
          <p:nvPr>
            <p:ph idx="1" hasCustomPrompt="1"/>
          </p:nvPr>
        </p:nvSpPr>
        <p:spPr>
          <a:xfrm>
            <a:off x="565149" y="2759076"/>
            <a:ext cx="5486399" cy="3009899"/>
          </a:xfrm>
        </p:spPr>
        <p:txBody>
          <a:bodyPr>
            <a:noAutofit/>
          </a:bodyPr>
          <a:lstStyle>
            <a:lvl1pPr>
              <a:lnSpc>
                <a:spcPct val="100000"/>
              </a:lnSpc>
              <a:spcBef>
                <a:spcPts val="1000"/>
              </a:spcBef>
              <a:defRPr sz="1800"/>
            </a:lvl1pPr>
            <a:lvl2pPr>
              <a:lnSpc>
                <a:spcPct val="100000"/>
              </a:lnSpc>
              <a:spcBef>
                <a:spcPts val="1000"/>
              </a:spcBef>
              <a:defRPr sz="1800"/>
            </a:lvl2pPr>
            <a:lvl3pPr>
              <a:lnSpc>
                <a:spcPct val="100000"/>
              </a:lnSpc>
              <a:spcBef>
                <a:spcPts val="1000"/>
              </a:spcBef>
              <a:defRPr sz="1600"/>
            </a:lvl3pPr>
            <a:lvl4pPr>
              <a:lnSpc>
                <a:spcPct val="100000"/>
              </a:lnSpc>
              <a:spcBef>
                <a:spcPts val="1000"/>
              </a:spcBef>
              <a:defRPr sz="1800"/>
            </a:lvl4pPr>
            <a:lvl5pPr>
              <a:lnSpc>
                <a:spcPct val="100000"/>
              </a:lnSpc>
              <a:spcBef>
                <a:spcPts val="1000"/>
              </a:spcBef>
              <a:defRPr sz="1800"/>
            </a:lvl5pPr>
            <a:lvl6pPr>
              <a:lnSpc>
                <a:spcPct val="100000"/>
              </a:lnSpc>
              <a:spcBef>
                <a:spcPts val="1000"/>
              </a:spcBef>
              <a:buClr>
                <a:schemeClr val="accent5"/>
              </a:buClr>
              <a:defRPr sz="1600"/>
            </a:lvl6pPr>
            <a:lvl7pPr>
              <a:buClr>
                <a:schemeClr val="accent5"/>
              </a:buCl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a:p>
            <a:pPr lvl="2"/>
            <a:endParaRPr lang="en-US" dirty="0"/>
          </a:p>
        </p:txBody>
      </p:sp>
      <p:sp>
        <p:nvSpPr>
          <p:cNvPr id="11" name="Date Placeholder 3">
            <a:extLst>
              <a:ext uri="{FF2B5EF4-FFF2-40B4-BE49-F238E27FC236}">
                <a16:creationId xmlns:a16="http://schemas.microsoft.com/office/drawing/2014/main" id="{23D67752-1F0B-4C84-BBA7-A57E2793D918}"/>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2" name="Rectangle 11">
            <a:extLst>
              <a:ext uri="{FF2B5EF4-FFF2-40B4-BE49-F238E27FC236}">
                <a16:creationId xmlns:a16="http://schemas.microsoft.com/office/drawing/2014/main" id="{FA4033A0-8E66-4ABA-9E27-744642AA948F}"/>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15" name="Footer Placeholder 4">
            <a:extLst>
              <a:ext uri="{FF2B5EF4-FFF2-40B4-BE49-F238E27FC236}">
                <a16:creationId xmlns:a16="http://schemas.microsoft.com/office/drawing/2014/main" id="{E8E05746-2784-43CF-84F7-0175BD650240}"/>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6" name="Slide Number Placeholder 5">
            <a:extLst>
              <a:ext uri="{FF2B5EF4-FFF2-40B4-BE49-F238E27FC236}">
                <a16:creationId xmlns:a16="http://schemas.microsoft.com/office/drawing/2014/main" id="{BB851CC3-3ED8-49E8-B8AC-6D79B036F30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grpSp>
        <p:nvGrpSpPr>
          <p:cNvPr id="2" name="Group 1">
            <a:extLst>
              <a:ext uri="{FF2B5EF4-FFF2-40B4-BE49-F238E27FC236}">
                <a16:creationId xmlns:a16="http://schemas.microsoft.com/office/drawing/2014/main" id="{F6F0BC49-315A-CF7A-E741-A8688AF53E66}"/>
              </a:ext>
            </a:extLst>
          </p:cNvPr>
          <p:cNvGrpSpPr/>
          <p:nvPr userDrawn="1"/>
        </p:nvGrpSpPr>
        <p:grpSpPr>
          <a:xfrm>
            <a:off x="9728046" y="831278"/>
            <a:ext cx="1623711" cy="630920"/>
            <a:chOff x="9588346" y="4824892"/>
            <a:chExt cx="1623711" cy="630920"/>
          </a:xfrm>
        </p:grpSpPr>
        <p:sp>
          <p:nvSpPr>
            <p:cNvPr id="3" name="Freeform: Shape 15">
              <a:extLst>
                <a:ext uri="{FF2B5EF4-FFF2-40B4-BE49-F238E27FC236}">
                  <a16:creationId xmlns:a16="http://schemas.microsoft.com/office/drawing/2014/main" id="{3FCB73E1-B061-C75F-AB29-C27CA95E57A9}"/>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94A16F89-984C-DEA8-C894-E819A7646610}"/>
                </a:ext>
              </a:extLst>
            </p:cNvPr>
            <p:cNvGrpSpPr/>
            <p:nvPr/>
          </p:nvGrpSpPr>
          <p:grpSpPr>
            <a:xfrm rot="2700000" flipH="1">
              <a:off x="10112436" y="4359902"/>
              <a:ext cx="571820" cy="1620000"/>
              <a:chOff x="8482785" y="4330454"/>
              <a:chExt cx="571820" cy="1620000"/>
            </a:xfrm>
          </p:grpSpPr>
          <p:sp>
            <p:nvSpPr>
              <p:cNvPr id="5" name="Freeform: Shape 17">
                <a:extLst>
                  <a:ext uri="{FF2B5EF4-FFF2-40B4-BE49-F238E27FC236}">
                    <a16:creationId xmlns:a16="http://schemas.microsoft.com/office/drawing/2014/main" id="{0971E16B-8BBF-40B5-5862-FAAADBF530A0}"/>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C1D464A1-0F6B-3CEE-8719-573F89E87B36}"/>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237773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D0C49A9B-EBDE-4047-884B-0860623D6391}"/>
              </a:ext>
            </a:extLst>
          </p:cNvPr>
          <p:cNvSpPr>
            <a:spLocks noGrp="1"/>
          </p:cNvSpPr>
          <p:nvPr>
            <p:ph type="ctrTitle" hasCustomPrompt="1"/>
          </p:nvPr>
        </p:nvSpPr>
        <p:spPr>
          <a:xfrm>
            <a:off x="1085851" y="2165174"/>
            <a:ext cx="6118224" cy="1554480"/>
          </a:xfrm>
        </p:spPr>
        <p:txBody>
          <a:bodyPr anchor="b">
            <a:noAutofit/>
          </a:bodyPr>
          <a:lstStyle>
            <a:lvl1pPr algn="ctr">
              <a:defRPr/>
            </a:lvl1pPr>
          </a:lstStyle>
          <a:p>
            <a:r>
              <a:rPr lang="en-US" dirty="0"/>
              <a:t>Click to add title</a:t>
            </a:r>
          </a:p>
        </p:txBody>
      </p:sp>
      <p:sp>
        <p:nvSpPr>
          <p:cNvPr id="35" name="Picture Placeholder 31">
            <a:extLst>
              <a:ext uri="{FF2B5EF4-FFF2-40B4-BE49-F238E27FC236}">
                <a16:creationId xmlns:a16="http://schemas.microsoft.com/office/drawing/2014/main" id="{99CD77F7-3095-4517-B300-DE93875DE53E}"/>
              </a:ext>
            </a:extLst>
          </p:cNvPr>
          <p:cNvSpPr>
            <a:spLocks noGrp="1"/>
          </p:cNvSpPr>
          <p:nvPr>
            <p:ph type="pic" sz="quarter" idx="13" hasCustomPrompt="1"/>
          </p:nvPr>
        </p:nvSpPr>
        <p:spPr>
          <a:xfrm>
            <a:off x="8329613" y="0"/>
            <a:ext cx="3862387" cy="2286000"/>
          </a:xfrm>
        </p:spPr>
        <p:txBody>
          <a:bodyPr>
            <a:normAutofit/>
          </a:bodyPr>
          <a:lstStyle>
            <a:lvl1pPr marL="0" indent="0" algn="ctr">
              <a:buNone/>
              <a:defRPr sz="1800"/>
            </a:lvl1pPr>
          </a:lstStyle>
          <a:p>
            <a:r>
              <a:rPr lang="en-US" dirty="0"/>
              <a:t>Click icon to add photo</a:t>
            </a:r>
          </a:p>
        </p:txBody>
      </p:sp>
      <p:sp>
        <p:nvSpPr>
          <p:cNvPr id="36" name="Picture Placeholder 31">
            <a:extLst>
              <a:ext uri="{FF2B5EF4-FFF2-40B4-BE49-F238E27FC236}">
                <a16:creationId xmlns:a16="http://schemas.microsoft.com/office/drawing/2014/main" id="{F31ECFCC-4520-48AB-A8A1-AF9FC0C055B8}"/>
              </a:ext>
            </a:extLst>
          </p:cNvPr>
          <p:cNvSpPr>
            <a:spLocks noGrp="1"/>
          </p:cNvSpPr>
          <p:nvPr>
            <p:ph type="pic" sz="quarter" idx="14" hasCustomPrompt="1"/>
          </p:nvPr>
        </p:nvSpPr>
        <p:spPr>
          <a:xfrm>
            <a:off x="8329200" y="2286000"/>
            <a:ext cx="3862387" cy="2286000"/>
          </a:xfrm>
        </p:spPr>
        <p:txBody>
          <a:bodyPr>
            <a:normAutofit/>
          </a:bodyPr>
          <a:lstStyle>
            <a:lvl1pPr marL="0" indent="0" algn="ctr">
              <a:buNone/>
              <a:defRPr sz="1800"/>
            </a:lvl1pPr>
          </a:lstStyle>
          <a:p>
            <a:r>
              <a:rPr lang="en-US" dirty="0"/>
              <a:t>Click icon to add photo</a:t>
            </a:r>
          </a:p>
        </p:txBody>
      </p:sp>
      <p:sp>
        <p:nvSpPr>
          <p:cNvPr id="37" name="Picture Placeholder 31">
            <a:extLst>
              <a:ext uri="{FF2B5EF4-FFF2-40B4-BE49-F238E27FC236}">
                <a16:creationId xmlns:a16="http://schemas.microsoft.com/office/drawing/2014/main" id="{0FDBD13C-46E7-4BB9-957D-DE2A5925521A}"/>
              </a:ext>
            </a:extLst>
          </p:cNvPr>
          <p:cNvSpPr>
            <a:spLocks noGrp="1"/>
          </p:cNvSpPr>
          <p:nvPr>
            <p:ph type="pic" sz="quarter" idx="15" hasCustomPrompt="1"/>
          </p:nvPr>
        </p:nvSpPr>
        <p:spPr>
          <a:xfrm>
            <a:off x="8329200" y="4572000"/>
            <a:ext cx="3862387" cy="2286000"/>
          </a:xfrm>
        </p:spPr>
        <p:txBody>
          <a:bodyPr>
            <a:normAutofit/>
          </a:bodyPr>
          <a:lstStyle>
            <a:lvl1pPr marL="0" indent="0" algn="ctr">
              <a:buNone/>
              <a:defRPr sz="1800"/>
            </a:lvl1pPr>
          </a:lstStyle>
          <a:p>
            <a:r>
              <a:rPr lang="en-US" dirty="0"/>
              <a:t>Click icon to add photo</a:t>
            </a:r>
          </a:p>
        </p:txBody>
      </p:sp>
      <p:grpSp>
        <p:nvGrpSpPr>
          <p:cNvPr id="12" name="Group 11">
            <a:extLst>
              <a:ext uri="{FF2B5EF4-FFF2-40B4-BE49-F238E27FC236}">
                <a16:creationId xmlns:a16="http://schemas.microsoft.com/office/drawing/2014/main" id="{85B40728-32E0-44CE-8C68-1E68245C2999}"/>
              </a:ext>
              <a:ext uri="{C183D7F6-B498-43B3-948B-1728B52AA6E4}">
                <adec:decorative xmlns:adec="http://schemas.microsoft.com/office/drawing/2017/decorative" val="1"/>
              </a:ext>
            </a:extLst>
          </p:cNvPr>
          <p:cNvGrpSpPr/>
          <p:nvPr userDrawn="1"/>
        </p:nvGrpSpPr>
        <p:grpSpPr>
          <a:xfrm>
            <a:off x="3400874" y="4194521"/>
            <a:ext cx="1481845" cy="787628"/>
            <a:chOff x="4987925" y="2840038"/>
            <a:chExt cx="2216150" cy="1177924"/>
          </a:xfrm>
        </p:grpSpPr>
        <p:sp>
          <p:nvSpPr>
            <p:cNvPr id="13" name="Rectangle 12">
              <a:extLst>
                <a:ext uri="{FF2B5EF4-FFF2-40B4-BE49-F238E27FC236}">
                  <a16:creationId xmlns:a16="http://schemas.microsoft.com/office/drawing/2014/main" id="{40A6D99A-68F3-4E08-BB89-083CE0299CE2}"/>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4" name="Rectangle 13">
              <a:extLst>
                <a:ext uri="{FF2B5EF4-FFF2-40B4-BE49-F238E27FC236}">
                  <a16:creationId xmlns:a16="http://schemas.microsoft.com/office/drawing/2014/main" id="{8B4F5556-21F4-4E26-9504-49ADE7D84749}"/>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5" name="Rectangle 14">
              <a:extLst>
                <a:ext uri="{FF2B5EF4-FFF2-40B4-BE49-F238E27FC236}">
                  <a16:creationId xmlns:a16="http://schemas.microsoft.com/office/drawing/2014/main" id="{E0E1118C-DFA4-410C-961C-BE0488441C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16" name="Group 15">
              <a:extLst>
                <a:ext uri="{FF2B5EF4-FFF2-40B4-BE49-F238E27FC236}">
                  <a16:creationId xmlns:a16="http://schemas.microsoft.com/office/drawing/2014/main" id="{B5A8ECE6-B3E3-4761-A6AD-711AF71EEA0D}"/>
                </a:ext>
              </a:extLst>
            </p:cNvPr>
            <p:cNvGrpSpPr/>
            <p:nvPr/>
          </p:nvGrpSpPr>
          <p:grpSpPr>
            <a:xfrm>
              <a:off x="5614944" y="3117662"/>
              <a:ext cx="1009280" cy="464739"/>
              <a:chOff x="4432859" y="3200647"/>
              <a:chExt cx="1009280" cy="464739"/>
            </a:xfrm>
          </p:grpSpPr>
          <p:sp>
            <p:nvSpPr>
              <p:cNvPr id="24" name="Freeform: Shape 23">
                <a:extLst>
                  <a:ext uri="{FF2B5EF4-FFF2-40B4-BE49-F238E27FC236}">
                    <a16:creationId xmlns:a16="http://schemas.microsoft.com/office/drawing/2014/main" id="{5B1F0E3F-4B5E-4F5B-93A6-CE1017521BF1}"/>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B20599F0-ACFC-4223-A598-8FFAF21406AB}"/>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17" name="Group 16">
              <a:extLst>
                <a:ext uri="{FF2B5EF4-FFF2-40B4-BE49-F238E27FC236}">
                  <a16:creationId xmlns:a16="http://schemas.microsoft.com/office/drawing/2014/main" id="{C6703144-DA66-4EFB-B790-4E044756FF37}"/>
                </a:ext>
              </a:extLst>
            </p:cNvPr>
            <p:cNvGrpSpPr/>
            <p:nvPr/>
          </p:nvGrpSpPr>
          <p:grpSpPr>
            <a:xfrm>
              <a:off x="5679979" y="2915338"/>
              <a:ext cx="1080000" cy="1080000"/>
              <a:chOff x="4497894" y="2998323"/>
              <a:chExt cx="1080000" cy="1080000"/>
            </a:xfrm>
          </p:grpSpPr>
          <p:grpSp>
            <p:nvGrpSpPr>
              <p:cNvPr id="18" name="Group 17">
                <a:extLst>
                  <a:ext uri="{FF2B5EF4-FFF2-40B4-BE49-F238E27FC236}">
                    <a16:creationId xmlns:a16="http://schemas.microsoft.com/office/drawing/2014/main" id="{63371BE5-97EB-4365-8EDA-4C634155E79F}"/>
                  </a:ext>
                </a:extLst>
              </p:cNvPr>
              <p:cNvGrpSpPr/>
              <p:nvPr/>
            </p:nvGrpSpPr>
            <p:grpSpPr>
              <a:xfrm rot="13500000">
                <a:off x="4805524" y="2998323"/>
                <a:ext cx="464739" cy="1080000"/>
                <a:chOff x="4511184" y="2470620"/>
                <a:chExt cx="464739" cy="1080000"/>
              </a:xfrm>
            </p:grpSpPr>
            <p:sp>
              <p:nvSpPr>
                <p:cNvPr id="22" name="Freeform: Shape 21">
                  <a:extLst>
                    <a:ext uri="{FF2B5EF4-FFF2-40B4-BE49-F238E27FC236}">
                      <a16:creationId xmlns:a16="http://schemas.microsoft.com/office/drawing/2014/main" id="{533C4D53-A668-4609-B338-E2D33C24A81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3" name="Straight Connector 22">
                  <a:extLst>
                    <a:ext uri="{FF2B5EF4-FFF2-40B4-BE49-F238E27FC236}">
                      <a16:creationId xmlns:a16="http://schemas.microsoft.com/office/drawing/2014/main" id="{A487C5A9-C4B3-4A68-8DFB-43F4CDB4073A}"/>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2E4A2F3-57A7-4529-A621-A36F1E777A4E}"/>
                  </a:ext>
                </a:extLst>
              </p:cNvPr>
              <p:cNvGrpSpPr/>
              <p:nvPr/>
            </p:nvGrpSpPr>
            <p:grpSpPr>
              <a:xfrm rot="8100000" flipH="1">
                <a:off x="4542572" y="2998323"/>
                <a:ext cx="464739" cy="1080000"/>
                <a:chOff x="4511184" y="2470620"/>
                <a:chExt cx="464739" cy="1080000"/>
              </a:xfrm>
            </p:grpSpPr>
            <p:sp>
              <p:nvSpPr>
                <p:cNvPr id="20" name="Freeform: Shape 19">
                  <a:extLst>
                    <a:ext uri="{FF2B5EF4-FFF2-40B4-BE49-F238E27FC236}">
                      <a16:creationId xmlns:a16="http://schemas.microsoft.com/office/drawing/2014/main" id="{1482263E-6A78-46B7-8AB8-845C9C9103B4}"/>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1" name="Straight Connector 20">
                  <a:extLst>
                    <a:ext uri="{FF2B5EF4-FFF2-40B4-BE49-F238E27FC236}">
                      <a16:creationId xmlns:a16="http://schemas.microsoft.com/office/drawing/2014/main" id="{3C7B34F9-7954-4950-ABEA-DDBFF4A4CC9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900405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C47B699-08C0-4851-8BAE-384C14E4E049}"/>
              </a:ext>
            </a:extLst>
          </p:cNvPr>
          <p:cNvSpPr>
            <a:spLocks noGrp="1"/>
          </p:cNvSpPr>
          <p:nvPr>
            <p:ph type="ctrTitle" hasCustomPrompt="1"/>
          </p:nvPr>
        </p:nvSpPr>
        <p:spPr>
          <a:xfrm>
            <a:off x="7766050" y="1079500"/>
            <a:ext cx="3884962" cy="2138400"/>
          </a:xfrm>
        </p:spPr>
        <p:txBody>
          <a:bodyPr anchor="b">
            <a:noAutofit/>
          </a:bodyPr>
          <a:lstStyle>
            <a:lvl1pPr algn="ctr">
              <a:defRPr/>
            </a:lvl1pPr>
          </a:lstStyle>
          <a:p>
            <a:r>
              <a:rPr lang="en-US" dirty="0"/>
              <a:t>Click to add title</a:t>
            </a:r>
          </a:p>
        </p:txBody>
      </p:sp>
      <p:sp>
        <p:nvSpPr>
          <p:cNvPr id="15" name="Subtitle 2">
            <a:extLst>
              <a:ext uri="{FF2B5EF4-FFF2-40B4-BE49-F238E27FC236}">
                <a16:creationId xmlns:a16="http://schemas.microsoft.com/office/drawing/2014/main" id="{B84917A2-B37A-4655-9D10-50C6FD698FA2}"/>
              </a:ext>
            </a:extLst>
          </p:cNvPr>
          <p:cNvSpPr>
            <a:spLocks noGrp="1"/>
          </p:cNvSpPr>
          <p:nvPr>
            <p:ph type="subTitle" idx="1" hasCustomPrompt="1"/>
          </p:nvPr>
        </p:nvSpPr>
        <p:spPr>
          <a:xfrm>
            <a:off x="7766051" y="4113213"/>
            <a:ext cx="3884961" cy="1655762"/>
          </a:xfrm>
        </p:spPr>
        <p:txBody>
          <a:bodyPr>
            <a:noAutofit/>
          </a:bodyPr>
          <a:lstStyle>
            <a:lvl1pPr marL="0" indent="0" algn="ctr">
              <a:lnSpc>
                <a:spcPct val="90000"/>
              </a:lnSpc>
              <a:buNone/>
              <a:defRPr sz="2400" i="1"/>
            </a:lvl1pPr>
          </a:lstStyle>
          <a:p>
            <a:r>
              <a:rPr lang="en-US" dirty="0"/>
              <a:t>Click to add subtitle</a:t>
            </a:r>
          </a:p>
        </p:txBody>
      </p:sp>
      <p:cxnSp>
        <p:nvCxnSpPr>
          <p:cNvPr id="23" name="Straight Connector 22">
            <a:extLst>
              <a:ext uri="{FF2B5EF4-FFF2-40B4-BE49-F238E27FC236}">
                <a16:creationId xmlns:a16="http://schemas.microsoft.com/office/drawing/2014/main" id="{88EE5317-4FED-4CB5-85EE-6DAD46C28417}"/>
              </a:ext>
              <a:ext uri="{C183D7F6-B498-43B3-948B-1728B52AA6E4}">
                <adec:decorative xmlns:adec="http://schemas.microsoft.com/office/drawing/2017/decorative" val="1"/>
              </a:ext>
            </a:extLst>
          </p:cNvPr>
          <p:cNvCxnSpPr>
            <a:cxnSpLocks/>
          </p:cNvCxnSpPr>
          <p:nvPr userDrawn="1"/>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3B0D3427-2AA8-987B-E83A-494604F72C16}"/>
              </a:ext>
            </a:extLst>
          </p:cNvPr>
          <p:cNvSpPr>
            <a:spLocks noGrp="1"/>
          </p:cNvSpPr>
          <p:nvPr>
            <p:ph type="pic" sz="quarter" idx="13" hasCustomPrompt="1"/>
          </p:nvPr>
        </p:nvSpPr>
        <p:spPr>
          <a:xfrm>
            <a:off x="541338" y="539750"/>
            <a:ext cx="6670675" cy="5759450"/>
          </a:xfrm>
          <a:custGeom>
            <a:avLst/>
            <a:gdLst>
              <a:gd name="connsiteX0" fmla="*/ 6573720 w 6670675"/>
              <a:gd name="connsiteY0" fmla="*/ 0 h 5759450"/>
              <a:gd name="connsiteX1" fmla="*/ 6670675 w 6670675"/>
              <a:gd name="connsiteY1" fmla="*/ 0 h 5759450"/>
              <a:gd name="connsiteX2" fmla="*/ 6670675 w 6670675"/>
              <a:gd name="connsiteY2" fmla="*/ 5759450 h 5759450"/>
              <a:gd name="connsiteX3" fmla="*/ 0 w 6670675"/>
              <a:gd name="connsiteY3" fmla="*/ 5759450 h 5759450"/>
              <a:gd name="connsiteX4" fmla="*/ 0 w 6670675"/>
              <a:gd name="connsiteY4" fmla="*/ 5669502 h 5759450"/>
              <a:gd name="connsiteX5" fmla="*/ 6573720 w 6670675"/>
              <a:gd name="connsiteY5" fmla="*/ 5669502 h 5759450"/>
              <a:gd name="connsiteX6" fmla="*/ 0 w 6670675"/>
              <a:gd name="connsiteY6" fmla="*/ 0 h 5759450"/>
              <a:gd name="connsiteX7" fmla="*/ 6562411 w 6670675"/>
              <a:gd name="connsiteY7" fmla="*/ 0 h 5759450"/>
              <a:gd name="connsiteX8" fmla="*/ 6562411 w 6670675"/>
              <a:gd name="connsiteY8" fmla="*/ 5658193 h 5759450"/>
              <a:gd name="connsiteX9" fmla="*/ 0 w 6670675"/>
              <a:gd name="connsiteY9" fmla="*/ 5658193 h 575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0675" h="5759450">
                <a:moveTo>
                  <a:pt x="6573720" y="0"/>
                </a:moveTo>
                <a:lnTo>
                  <a:pt x="6670675" y="0"/>
                </a:lnTo>
                <a:lnTo>
                  <a:pt x="6670675" y="5759450"/>
                </a:lnTo>
                <a:lnTo>
                  <a:pt x="0" y="5759450"/>
                </a:lnTo>
                <a:lnTo>
                  <a:pt x="0" y="5669502"/>
                </a:lnTo>
                <a:lnTo>
                  <a:pt x="6573720" y="5669502"/>
                </a:lnTo>
                <a:close/>
                <a:moveTo>
                  <a:pt x="0" y="0"/>
                </a:moveTo>
                <a:lnTo>
                  <a:pt x="6562411" y="0"/>
                </a:lnTo>
                <a:lnTo>
                  <a:pt x="6562411" y="5658193"/>
                </a:lnTo>
                <a:lnTo>
                  <a:pt x="0" y="5658193"/>
                </a:lnTo>
                <a:close/>
              </a:path>
            </a:pathLst>
          </a:custGeom>
        </p:spPr>
        <p:txBody>
          <a:bodyPr wrap="square">
            <a:noAutofit/>
          </a:bodyPr>
          <a:lstStyle>
            <a:lvl1pPr marL="0" indent="0" algn="ctr">
              <a:buNone/>
              <a:defRPr sz="1800"/>
            </a:lvl1pPr>
          </a:lstStyle>
          <a:p>
            <a:r>
              <a:rPr lang="en-US" dirty="0"/>
              <a:t>Click icon to add photo</a:t>
            </a:r>
          </a:p>
        </p:txBody>
      </p:sp>
      <p:sp>
        <p:nvSpPr>
          <p:cNvPr id="6" name="Frame 5">
            <a:extLst>
              <a:ext uri="{FF2B5EF4-FFF2-40B4-BE49-F238E27FC236}">
                <a16:creationId xmlns:a16="http://schemas.microsoft.com/office/drawing/2014/main" id="{1D4FB6FD-0D78-2F14-EC30-9013875CFD4A}"/>
              </a:ext>
            </a:extLst>
          </p:cNvPr>
          <p:cNvSpPr/>
          <p:nvPr userDrawn="1"/>
        </p:nvSpPr>
        <p:spPr>
          <a:xfrm>
            <a:off x="439938" y="439388"/>
            <a:ext cx="6675120" cy="5769864"/>
          </a:xfrm>
          <a:prstGeom prst="frame">
            <a:avLst>
              <a:gd name="adj1" fmla="val 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503449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39279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2530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88841541"/>
      </p:ext>
    </p:extLst>
  </p:cSld>
  <p:clrMap bg1="dk1" tx1="lt1" bg2="dk2" tx2="lt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6" r:id="rId17"/>
  </p:sldLayoutIdLst>
  <p:hf sldNum="0" hdr="0" ftr="0" dt="0"/>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1093/femsre/fux013" TargetMode="External"/><Relationship Id="rId3" Type="http://schemas.openxmlformats.org/officeDocument/2006/relationships/hyperlink" Target="https://www.kjim.org/articles/search_result.php?term=author&amp;f_name=Miri&amp;l_name=Hyun" TargetMode="External"/><Relationship Id="rId7" Type="http://schemas.openxmlformats.org/officeDocument/2006/relationships/hyperlink" Target="https://doi.org/10.3904/kjim.2015.257" TargetMode="External"/><Relationship Id="rId2" Type="http://schemas.openxmlformats.org/officeDocument/2006/relationships/hyperlink" Target="https://doi.org/10.5061/dryad.jq2bvq8kp" TargetMode="External"/><Relationship Id="rId1" Type="http://schemas.openxmlformats.org/officeDocument/2006/relationships/slideLayout" Target="../slideLayouts/slideLayout17.xml"/><Relationship Id="rId6" Type="http://schemas.openxmlformats.org/officeDocument/2006/relationships/hyperlink" Target="https://www.kjim.org/articles/search_result.php?term=author&amp;f_name=Hyun%20Ah&amp;l_name=Kim" TargetMode="External"/><Relationship Id="rId5" Type="http://schemas.openxmlformats.org/officeDocument/2006/relationships/hyperlink" Target="https://www.kjim.org/articles/search_result.php?term=author&amp;f_name=Seong%20Yeol&amp;l_name=Ryu" TargetMode="External"/><Relationship Id="rId4" Type="http://schemas.openxmlformats.org/officeDocument/2006/relationships/hyperlink" Target="https://www.kjim.org/articles/search_result.php?term=author&amp;f_name=Chang%20In&amp;l_name=Noh"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mailto:reem.emeghalawy.vet@gmail.com" TargetMode="External"/><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hyperlink" Target="https://github.com/meghalawy/R-EGcompBio-/blob/main/K.P%20project"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70">
          <a:fgClr>
            <a:schemeClr val="bg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81C4-F52E-F586-1465-77001CB91EEC}"/>
              </a:ext>
            </a:extLst>
          </p:cNvPr>
          <p:cNvSpPr>
            <a:spLocks noGrp="1"/>
          </p:cNvSpPr>
          <p:nvPr>
            <p:ph type="ctrTitle"/>
          </p:nvPr>
        </p:nvSpPr>
        <p:spPr/>
        <p:txBody>
          <a:bodyPr>
            <a:normAutofit fontScale="90000"/>
          </a:bodyPr>
          <a:lstStyle/>
          <a:p>
            <a:r>
              <a:rPr lang="en-US" sz="2400" dirty="0"/>
              <a:t>DAV-R WS2024Graduation Project</a:t>
            </a:r>
            <a:br>
              <a:rPr lang="en-US" sz="2400" dirty="0"/>
            </a:br>
            <a:r>
              <a:rPr lang="en-US" sz="2400" dirty="0"/>
              <a:t>by: Reem Assad El-</a:t>
            </a:r>
            <a:r>
              <a:rPr lang="en-US" sz="2400" dirty="0" err="1"/>
              <a:t>Meghalawy</a:t>
            </a:r>
            <a:br>
              <a:rPr lang="en-US" sz="2400" dirty="0"/>
            </a:br>
            <a:br>
              <a:rPr lang="en-US" sz="2400" dirty="0"/>
            </a:br>
            <a:r>
              <a:rPr lang="en-US" sz="1300" dirty="0"/>
              <a:t>Bachelor of Veterinary Medicine- Food Safety &amp; Hygiene </a:t>
            </a:r>
            <a:br>
              <a:rPr lang="en-US" sz="1300" dirty="0"/>
            </a:br>
            <a:r>
              <a:rPr lang="en-US" sz="1300" dirty="0"/>
              <a:t>Diploma in Animal Microbiology and Immunology </a:t>
            </a:r>
            <a:br>
              <a:rPr lang="en-US" sz="2400" dirty="0"/>
            </a:br>
            <a:r>
              <a:rPr lang="en-US" sz="1400" dirty="0"/>
              <a:t>Mansoura University</a:t>
            </a:r>
            <a:br>
              <a:rPr lang="en-US" sz="2400" dirty="0"/>
            </a:br>
            <a:br>
              <a:rPr lang="en-US" sz="2400" dirty="0"/>
            </a:br>
            <a:r>
              <a:rPr lang="en-US" sz="2400" dirty="0"/>
              <a:t> </a:t>
            </a:r>
          </a:p>
        </p:txBody>
      </p:sp>
      <p:sp>
        <p:nvSpPr>
          <p:cNvPr id="3" name="Subtitle 2">
            <a:extLst>
              <a:ext uri="{FF2B5EF4-FFF2-40B4-BE49-F238E27FC236}">
                <a16:creationId xmlns:a16="http://schemas.microsoft.com/office/drawing/2014/main" id="{4FCEF556-8EB8-C345-0D6A-98BB385A507F}"/>
              </a:ext>
            </a:extLst>
          </p:cNvPr>
          <p:cNvSpPr>
            <a:spLocks noGrp="1"/>
          </p:cNvSpPr>
          <p:nvPr>
            <p:ph type="subTitle" idx="1"/>
          </p:nvPr>
        </p:nvSpPr>
        <p:spPr>
          <a:xfrm>
            <a:off x="1342663" y="3842795"/>
            <a:ext cx="9977378" cy="1926180"/>
          </a:xfrm>
        </p:spPr>
        <p:txBody>
          <a:bodyPr/>
          <a:lstStyle/>
          <a:p>
            <a:r>
              <a:rPr lang="en-US" dirty="0"/>
              <a:t> Wrangling of Antibiotic Resistance Microbiology Dataset for Analysis of Klebsiella Pneumoniae Trends</a:t>
            </a:r>
          </a:p>
        </p:txBody>
      </p:sp>
    </p:spTree>
    <p:extLst>
      <p:ext uri="{BB962C8B-B14F-4D97-AF65-F5344CB8AC3E}">
        <p14:creationId xmlns:p14="http://schemas.microsoft.com/office/powerpoint/2010/main" val="2420619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14C0111-86AA-B377-753D-02A3CA89F8E6}"/>
              </a:ext>
            </a:extLst>
          </p:cNvPr>
          <p:cNvSpPr>
            <a:spLocks noGrp="1"/>
          </p:cNvSpPr>
          <p:nvPr>
            <p:ph type="title"/>
          </p:nvPr>
        </p:nvSpPr>
        <p:spPr>
          <a:xfrm>
            <a:off x="565149" y="763928"/>
            <a:ext cx="5486400" cy="519703"/>
          </a:xfrm>
        </p:spPr>
        <p:txBody>
          <a:bodyPr/>
          <a:lstStyle/>
          <a:p>
            <a:r>
              <a:rPr lang="en-US" dirty="0"/>
              <a:t>Abstract</a:t>
            </a:r>
          </a:p>
        </p:txBody>
      </p:sp>
      <p:sp>
        <p:nvSpPr>
          <p:cNvPr id="13" name="Content Placeholder 12">
            <a:extLst>
              <a:ext uri="{FF2B5EF4-FFF2-40B4-BE49-F238E27FC236}">
                <a16:creationId xmlns:a16="http://schemas.microsoft.com/office/drawing/2014/main" id="{03252AFB-1364-05E7-C423-89DB466EDAD6}"/>
              </a:ext>
            </a:extLst>
          </p:cNvPr>
          <p:cNvSpPr>
            <a:spLocks noGrp="1"/>
          </p:cNvSpPr>
          <p:nvPr>
            <p:ph idx="1"/>
          </p:nvPr>
        </p:nvSpPr>
        <p:spPr>
          <a:xfrm>
            <a:off x="565149" y="1736203"/>
            <a:ext cx="8231610" cy="4618298"/>
          </a:xfrm>
        </p:spPr>
        <p:txBody>
          <a:bodyPr/>
          <a:lstStyle/>
          <a:p>
            <a:r>
              <a:rPr lang="en-US" dirty="0"/>
              <a:t>Antimicrobial resistance continues to increase while the pipeline for new antibiotic development is drying up; after only eight decades of antibiotic use, bacterial infections that once were easily treated are becoming untreatable. Antimicrobials have enabled the advancement of many areas of medical practice. The successful outcomes of many surgical procedures and immunosuppressive treatments depend on antibiotic prophylaxis and the ability to treat infectious complications. Antibiotic resistance correlates with antibiotic use, so improved antimicrobial stewardship, with better prevention and diagnosis of infection, can help to conserve the currently available antimicrobial agents. Significant global action and investment, from both public and private sector funding, is required if the development of new anti-infectives is to keep pace with increasing resistance.</a:t>
            </a:r>
          </a:p>
        </p:txBody>
      </p:sp>
    </p:spTree>
    <p:extLst>
      <p:ext uri="{BB962C8B-B14F-4D97-AF65-F5344CB8AC3E}">
        <p14:creationId xmlns:p14="http://schemas.microsoft.com/office/powerpoint/2010/main" val="4148681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5C0E-926A-BDF3-7DE7-234742955217}"/>
              </a:ext>
            </a:extLst>
          </p:cNvPr>
          <p:cNvSpPr>
            <a:spLocks noGrp="1"/>
          </p:cNvSpPr>
          <p:nvPr>
            <p:ph type="title"/>
          </p:nvPr>
        </p:nvSpPr>
        <p:spPr>
          <a:xfrm>
            <a:off x="565149" y="548640"/>
            <a:ext cx="9504825" cy="540385"/>
          </a:xfrm>
        </p:spPr>
        <p:txBody>
          <a:bodyPr/>
          <a:lstStyle/>
          <a:p>
            <a:r>
              <a:rPr lang="en-US" dirty="0"/>
              <a:t>Pipeline Structure</a:t>
            </a:r>
          </a:p>
        </p:txBody>
      </p:sp>
      <p:sp useBgFill="1">
        <p:nvSpPr>
          <p:cNvPr id="3" name="Content Placeholder 2">
            <a:extLst>
              <a:ext uri="{FF2B5EF4-FFF2-40B4-BE49-F238E27FC236}">
                <a16:creationId xmlns:a16="http://schemas.microsoft.com/office/drawing/2014/main" id="{CD768AF7-8A12-C6B5-DBF1-81398B620D71}"/>
              </a:ext>
            </a:extLst>
          </p:cNvPr>
          <p:cNvSpPr>
            <a:spLocks noGrp="1"/>
          </p:cNvSpPr>
          <p:nvPr>
            <p:ph idx="1"/>
          </p:nvPr>
        </p:nvSpPr>
        <p:spPr>
          <a:xfrm>
            <a:off x="565149" y="1342663"/>
            <a:ext cx="9504825" cy="5150733"/>
          </a:xfrm>
        </p:spPr>
        <p:txBody>
          <a:bodyPr/>
          <a:lstStyle/>
          <a:p>
            <a:pPr>
              <a:buFont typeface="+mj-lt"/>
              <a:buAutoNum type="arabicPeriod"/>
            </a:pPr>
            <a:r>
              <a:rPr lang="en-US" sz="2400" dirty="0"/>
              <a:t>Data source and Acquisition.</a:t>
            </a:r>
          </a:p>
          <a:p>
            <a:pPr>
              <a:buFont typeface="+mj-lt"/>
              <a:buAutoNum type="arabicPeriod"/>
            </a:pPr>
            <a:r>
              <a:rPr lang="en-US" sz="2400" dirty="0"/>
              <a:t>Data Wrangling (cleaning &amp; Preprocessing)</a:t>
            </a:r>
          </a:p>
          <a:p>
            <a:pPr>
              <a:buFont typeface="+mj-lt"/>
              <a:buAutoNum type="arabicPeriod"/>
            </a:pPr>
            <a:r>
              <a:rPr lang="en-US" sz="2400" dirty="0"/>
              <a:t>Exploratory Data Analysis (EDA)</a:t>
            </a:r>
          </a:p>
          <a:p>
            <a:pPr>
              <a:buFont typeface="+mj-lt"/>
              <a:buAutoNum type="arabicPeriod"/>
            </a:pPr>
            <a:r>
              <a:rPr lang="en-US" sz="2400" dirty="0"/>
              <a:t>Statistical Analysis</a:t>
            </a:r>
          </a:p>
          <a:p>
            <a:pPr>
              <a:buFont typeface="+mj-lt"/>
              <a:buAutoNum type="arabicPeriod"/>
            </a:pPr>
            <a:r>
              <a:rPr lang="en-US" sz="2400" dirty="0"/>
              <a:t>Visualization &amp; Reporting </a:t>
            </a:r>
          </a:p>
        </p:txBody>
      </p:sp>
    </p:spTree>
    <p:extLst>
      <p:ext uri="{BB962C8B-B14F-4D97-AF65-F5344CB8AC3E}">
        <p14:creationId xmlns:p14="http://schemas.microsoft.com/office/powerpoint/2010/main" val="2609461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A002EC1-3CB7-584C-D2EF-55EA6F1EAE1A}"/>
              </a:ext>
            </a:extLst>
          </p:cNvPr>
          <p:cNvSpPr>
            <a:spLocks noGrp="1"/>
          </p:cNvSpPr>
          <p:nvPr>
            <p:ph type="ctrTitle"/>
          </p:nvPr>
        </p:nvSpPr>
        <p:spPr>
          <a:xfrm>
            <a:off x="517003" y="324092"/>
            <a:ext cx="7372551" cy="578734"/>
          </a:xfrm>
        </p:spPr>
        <p:txBody>
          <a:bodyPr/>
          <a:lstStyle/>
          <a:p>
            <a:r>
              <a:rPr lang="en-US" dirty="0"/>
              <a:t>Data source and Acquisition</a:t>
            </a:r>
          </a:p>
        </p:txBody>
      </p:sp>
      <p:sp>
        <p:nvSpPr>
          <p:cNvPr id="13" name="Subtitle 12">
            <a:extLst>
              <a:ext uri="{FF2B5EF4-FFF2-40B4-BE49-F238E27FC236}">
                <a16:creationId xmlns:a16="http://schemas.microsoft.com/office/drawing/2014/main" id="{F46A8E24-F871-F908-EAD2-564283BD9CCC}"/>
              </a:ext>
            </a:extLst>
          </p:cNvPr>
          <p:cNvSpPr>
            <a:spLocks noGrp="1"/>
          </p:cNvSpPr>
          <p:nvPr>
            <p:ph type="subTitle" idx="1"/>
          </p:nvPr>
        </p:nvSpPr>
        <p:spPr>
          <a:xfrm>
            <a:off x="517003" y="1316346"/>
            <a:ext cx="9672026" cy="4815068"/>
          </a:xfrm>
        </p:spPr>
        <p:txBody>
          <a:bodyPr/>
          <a:lstStyle/>
          <a:p>
            <a:pPr algn="l"/>
            <a:r>
              <a:rPr lang="en-US" dirty="0">
                <a:solidFill>
                  <a:schemeClr val="tx1">
                    <a:lumMod val="85000"/>
                  </a:schemeClr>
                </a:solidFill>
                <a:latin typeface="Calibri" panose="020F0502020204030204" pitchFamily="34" charset="0"/>
                <a:ea typeface="Calibri" panose="020F0502020204030204" pitchFamily="34" charset="0"/>
                <a:cs typeface="Calibri" panose="020F0502020204030204" pitchFamily="34" charset="0"/>
              </a:rPr>
              <a:t>The Antibiotic Resistance Microbiology Dataset (ARMD) is a de-identified resource derived from electronic health records (EHR) that facilitates research into antimicrobial resistance (AMR).</a:t>
            </a:r>
            <a:r>
              <a:rPr lang="en-US" b="0" i="0" dirty="0">
                <a:solidFill>
                  <a:schemeClr val="tx1">
                    <a:lumMod val="85000"/>
                  </a:schemeClr>
                </a:solidFill>
                <a:effectLst/>
                <a:latin typeface="Calibri" panose="020F0502020204030204" pitchFamily="34" charset="0"/>
                <a:ea typeface="Calibri" panose="020F0502020204030204" pitchFamily="34" charset="0"/>
                <a:cs typeface="Calibri" panose="020F0502020204030204" pitchFamily="34" charset="0"/>
              </a:rPr>
              <a:t>  It provides a comprehensive overview of microbiological cultures, including urine, respiratory, and blood cultures. This dataset includes 283,715 unique adult patients and features detailed information on culture results, identified organisms, antibiotic susceptibility, and associated demographics and clinical data. The dataset was meticulously constructed through a multi-step process designed to enhance data quality and relevance.</a:t>
            </a:r>
            <a:r>
              <a:rPr lang="en-US" dirty="0">
                <a:solidFill>
                  <a:schemeClr val="tx1">
                    <a:lumMod val="85000"/>
                  </a:schemeClr>
                </a:solidFill>
                <a:latin typeface="Calibri" panose="020F0502020204030204" pitchFamily="34" charset="0"/>
                <a:ea typeface="Calibri" panose="020F0502020204030204" pitchFamily="34" charset="0"/>
                <a:cs typeface="Calibri" panose="020F0502020204030204" pitchFamily="34" charset="0"/>
              </a:rPr>
              <a:t> Key attributes include organism identification, susceptibility patterns for 55 antibiotics, implied susceptibility rules, and de-identified patient information. This dataset supports studies on antimicrobial stewardship, causal inference, and clinical decision-making. The dataset integrates microbiology laboratory results, demographic data, clinical encounters, antibiotic exposures, and socioeconomic indicators to comprehensively analyze AMR patterns.</a:t>
            </a:r>
          </a:p>
          <a:p>
            <a:pPr algn="l"/>
            <a:r>
              <a:rPr lang="en-US" b="0" i="0" dirty="0">
                <a:solidFill>
                  <a:srgbClr val="000000"/>
                </a:solidFill>
                <a:effectLst/>
                <a:latin typeface="KievitWeb"/>
              </a:rPr>
              <a:t>Published Jan 23, 2025; Updated Apr 11, 2025 on Dryad.</a:t>
            </a:r>
            <a:endParaRPr lang="en-US" dirty="0">
              <a:solidFill>
                <a:schemeClr val="tx1">
                  <a:lumMod val="8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1478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2DB3-C4B2-34D5-412F-97D4B1D48045}"/>
              </a:ext>
            </a:extLst>
          </p:cNvPr>
          <p:cNvSpPr>
            <a:spLocks noGrp="1"/>
          </p:cNvSpPr>
          <p:nvPr>
            <p:ph type="ctrTitle"/>
          </p:nvPr>
        </p:nvSpPr>
        <p:spPr>
          <a:xfrm>
            <a:off x="304800" y="289380"/>
            <a:ext cx="10025743" cy="984249"/>
          </a:xfrm>
        </p:spPr>
        <p:txBody>
          <a:bodyPr>
            <a:normAutofit/>
          </a:bodyPr>
          <a:lstStyle/>
          <a:p>
            <a:pPr algn="l"/>
            <a:r>
              <a:rPr lang="en-US" sz="1800" dirty="0"/>
              <a:t>Data Wrangling (cleaning &amp; Preprocessing)</a:t>
            </a:r>
            <a:br>
              <a:rPr lang="en-US" sz="1800" dirty="0"/>
            </a:br>
            <a:endParaRPr lang="en-US" sz="1800" dirty="0"/>
          </a:p>
        </p:txBody>
      </p:sp>
      <p:sp>
        <p:nvSpPr>
          <p:cNvPr id="3" name="Subtitle 2">
            <a:extLst>
              <a:ext uri="{FF2B5EF4-FFF2-40B4-BE49-F238E27FC236}">
                <a16:creationId xmlns:a16="http://schemas.microsoft.com/office/drawing/2014/main" id="{F147419C-D188-B74A-A659-F5F286C85ECB}"/>
              </a:ext>
            </a:extLst>
          </p:cNvPr>
          <p:cNvSpPr>
            <a:spLocks noGrp="1"/>
          </p:cNvSpPr>
          <p:nvPr>
            <p:ph type="subTitle" idx="1"/>
          </p:nvPr>
        </p:nvSpPr>
        <p:spPr>
          <a:xfrm>
            <a:off x="544286" y="1698171"/>
            <a:ext cx="10276114" cy="4632055"/>
          </a:xfrm>
        </p:spPr>
        <p:txBody>
          <a:bodyPr/>
          <a:lstStyle/>
          <a:p>
            <a:pPr marL="342900" indent="-342900" algn="l">
              <a:buAutoNum type="arabicPeriod"/>
            </a:pPr>
            <a:r>
              <a:rPr lang="en-US" sz="2000" dirty="0"/>
              <a:t>Initial exploration for missing values and data summarization.</a:t>
            </a:r>
          </a:p>
          <a:p>
            <a:pPr marL="342900" indent="-342900" algn="l">
              <a:buFont typeface="Wingdings" panose="05000000000000000000" pitchFamily="2" charset="2"/>
              <a:buAutoNum type="arabicPeriod"/>
            </a:pPr>
            <a:r>
              <a:rPr lang="en-US" sz="2000" dirty="0">
                <a:solidFill>
                  <a:schemeClr val="tx1">
                    <a:lumMod val="75000"/>
                  </a:schemeClr>
                </a:solidFill>
              </a:rPr>
              <a:t>Handling missing data: </a:t>
            </a:r>
            <a:r>
              <a:rPr lang="en-US" sz="2000" b="0" i="0" dirty="0">
                <a:solidFill>
                  <a:schemeClr val="tx1">
                    <a:lumMod val="75000"/>
                  </a:schemeClr>
                </a:solidFill>
                <a:effectLst/>
              </a:rPr>
              <a:t>Empty cells in the dataset are represented as “null” to ensure clarity.</a:t>
            </a:r>
          </a:p>
          <a:p>
            <a:pPr marL="342900" indent="-342900" algn="l">
              <a:buAutoNum type="arabicPeriod"/>
            </a:pPr>
            <a:r>
              <a:rPr lang="en-US" sz="2000" dirty="0"/>
              <a:t>Standardization.</a:t>
            </a:r>
          </a:p>
          <a:p>
            <a:pPr marL="342900" indent="-342900" algn="l">
              <a:buAutoNum type="arabicPeriod"/>
            </a:pPr>
            <a:r>
              <a:rPr lang="en-US" sz="2000" dirty="0"/>
              <a:t>Filtering &amp; </a:t>
            </a:r>
            <a:r>
              <a:rPr lang="en-US" sz="2000" dirty="0" err="1"/>
              <a:t>Subsetting</a:t>
            </a:r>
            <a:r>
              <a:rPr lang="en-US" sz="2000" dirty="0"/>
              <a:t>: selecting data of interest and merging between datasets using a common key column.</a:t>
            </a:r>
          </a:p>
          <a:p>
            <a:pPr algn="l"/>
            <a:endParaRPr lang="en-US" dirty="0"/>
          </a:p>
        </p:txBody>
      </p:sp>
    </p:spTree>
    <p:extLst>
      <p:ext uri="{BB962C8B-B14F-4D97-AF65-F5344CB8AC3E}">
        <p14:creationId xmlns:p14="http://schemas.microsoft.com/office/powerpoint/2010/main" val="354287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F646A7B9-D312-F1D7-5C71-976329EE7BFA}"/>
              </a:ext>
            </a:extLst>
          </p:cNvPr>
          <p:cNvSpPr>
            <a:spLocks noGrp="1"/>
          </p:cNvSpPr>
          <p:nvPr>
            <p:ph type="title"/>
          </p:nvPr>
        </p:nvSpPr>
        <p:spPr>
          <a:xfrm>
            <a:off x="107226" y="247308"/>
            <a:ext cx="3735569" cy="2082235"/>
          </a:xfrm>
        </p:spPr>
        <p:txBody>
          <a:bodyPr>
            <a:normAutofit/>
          </a:bodyPr>
          <a:lstStyle/>
          <a:p>
            <a:br>
              <a:rPr lang="en-US" sz="1600" spc="0" dirty="0">
                <a:latin typeface="Calibri" panose="020F0502020204030204" pitchFamily="34" charset="0"/>
                <a:ea typeface="Calibri" panose="020F0502020204030204" pitchFamily="34" charset="0"/>
                <a:cs typeface="Calibri" panose="020F0502020204030204" pitchFamily="34" charset="0"/>
              </a:rPr>
            </a:br>
            <a:r>
              <a:rPr lang="en-US" sz="1800" spc="0" dirty="0">
                <a:solidFill>
                  <a:schemeClr val="tx1">
                    <a:lumMod val="75000"/>
                  </a:schemeClr>
                </a:solidFill>
                <a:latin typeface="Calibri" panose="020F0502020204030204" pitchFamily="34" charset="0"/>
                <a:ea typeface="Calibri" panose="020F0502020204030204" pitchFamily="34" charset="0"/>
                <a:cs typeface="Calibri" panose="020F0502020204030204" pitchFamily="34" charset="0"/>
              </a:rPr>
              <a:t>Exploratory Data Analysis</a:t>
            </a:r>
            <a:br>
              <a:rPr lang="en-US" sz="1600" spc="0" dirty="0">
                <a:latin typeface="Calibri" panose="020F0502020204030204" pitchFamily="34" charset="0"/>
                <a:ea typeface="Calibri" panose="020F0502020204030204" pitchFamily="34" charset="0"/>
                <a:cs typeface="Calibri" panose="020F0502020204030204" pitchFamily="34" charset="0"/>
              </a:rPr>
            </a:br>
            <a:br>
              <a:rPr lang="en-US" sz="1600" spc="0" dirty="0">
                <a:latin typeface="Calibri" panose="020F0502020204030204" pitchFamily="34" charset="0"/>
                <a:ea typeface="Calibri" panose="020F0502020204030204" pitchFamily="34" charset="0"/>
                <a:cs typeface="Calibri" panose="020F0502020204030204" pitchFamily="34" charset="0"/>
              </a:rPr>
            </a:br>
            <a:br>
              <a:rPr lang="en-US" sz="1600" spc="0" dirty="0">
                <a:latin typeface="Calibri" panose="020F0502020204030204" pitchFamily="34" charset="0"/>
                <a:ea typeface="Calibri" panose="020F0502020204030204" pitchFamily="34" charset="0"/>
                <a:cs typeface="Calibri" panose="020F0502020204030204" pitchFamily="34" charset="0"/>
              </a:rPr>
            </a:br>
            <a:r>
              <a:rPr lang="en-US" sz="1600" spc="0" dirty="0">
                <a:latin typeface="Calibri" panose="020F0502020204030204" pitchFamily="34" charset="0"/>
                <a:ea typeface="Calibri" panose="020F0502020204030204" pitchFamily="34" charset="0"/>
                <a:cs typeface="Calibri" panose="020F0502020204030204" pitchFamily="34" charset="0"/>
              </a:rPr>
              <a:t>Distribution shows the top ten most frequently isolated microorganisms</a:t>
            </a:r>
          </a:p>
        </p:txBody>
      </p:sp>
      <p:sp>
        <p:nvSpPr>
          <p:cNvPr id="27" name="Text Placeholder 26">
            <a:extLst>
              <a:ext uri="{FF2B5EF4-FFF2-40B4-BE49-F238E27FC236}">
                <a16:creationId xmlns:a16="http://schemas.microsoft.com/office/drawing/2014/main" id="{EA0BA587-8765-29CA-3AC8-383743BCD6C2}"/>
              </a:ext>
            </a:extLst>
          </p:cNvPr>
          <p:cNvSpPr>
            <a:spLocks noGrp="1"/>
          </p:cNvSpPr>
          <p:nvPr>
            <p:ph type="body" sz="half" idx="2"/>
          </p:nvPr>
        </p:nvSpPr>
        <p:spPr>
          <a:xfrm>
            <a:off x="107226" y="2407810"/>
            <a:ext cx="3735569" cy="4947172"/>
          </a:xfrm>
        </p:spPr>
        <p:txBody>
          <a:bodyPr>
            <a:normAutofit fontScale="85000" lnSpcReduction="10000"/>
          </a:bodyPr>
          <a:lstStyle/>
          <a:p>
            <a:r>
              <a:rPr lang="en-US" dirty="0"/>
              <a:t>As shown, Klebsiella pneumoniae is the second most resistant microorganism to antibiotics. The danger comes from it being the second most common cause (behind Escherichia coli) of community- and hospital-acquired Gram-negative bloodstream infection, which is called nosocomial </a:t>
            </a:r>
            <a:r>
              <a:rPr lang="en-US" dirty="0" err="1"/>
              <a:t>infection.K</a:t>
            </a:r>
            <a:r>
              <a:rPr lang="en-US" dirty="0"/>
              <a:t>. pneumoniae bloodstream infections usually arise as a complication of focal urinary, gastrointestinal, or respiratory tract infections. However, occasionally they can arise without a definable source.</a:t>
            </a:r>
          </a:p>
        </p:txBody>
      </p:sp>
      <p:pic>
        <p:nvPicPr>
          <p:cNvPr id="39" name="Picture 38">
            <a:extLst>
              <a:ext uri="{FF2B5EF4-FFF2-40B4-BE49-F238E27FC236}">
                <a16:creationId xmlns:a16="http://schemas.microsoft.com/office/drawing/2014/main" id="{8D9789BB-5BB1-E33F-12BF-1D6A60A37539}"/>
              </a:ext>
            </a:extLst>
          </p:cNvPr>
          <p:cNvPicPr>
            <a:picLocks noChangeAspect="1"/>
          </p:cNvPicPr>
          <p:nvPr/>
        </p:nvPicPr>
        <p:blipFill>
          <a:blip r:embed="rId3"/>
          <a:stretch>
            <a:fillRect/>
          </a:stretch>
        </p:blipFill>
        <p:spPr>
          <a:xfrm>
            <a:off x="4012476" y="247309"/>
            <a:ext cx="8072298" cy="6363382"/>
          </a:xfrm>
          <a:prstGeom prst="rect">
            <a:avLst/>
          </a:prstGeom>
        </p:spPr>
      </p:pic>
    </p:spTree>
    <p:extLst>
      <p:ext uri="{BB962C8B-B14F-4D97-AF65-F5344CB8AC3E}">
        <p14:creationId xmlns:p14="http://schemas.microsoft.com/office/powerpoint/2010/main" val="975368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3C79-A668-0819-2F97-B763BF2AE4E3}"/>
              </a:ext>
            </a:extLst>
          </p:cNvPr>
          <p:cNvSpPr>
            <a:spLocks noGrp="1"/>
          </p:cNvSpPr>
          <p:nvPr>
            <p:ph type="title"/>
          </p:nvPr>
        </p:nvSpPr>
        <p:spPr>
          <a:xfrm>
            <a:off x="150471" y="335666"/>
            <a:ext cx="4834280" cy="1284790"/>
          </a:xfrm>
        </p:spPr>
        <p:txBody>
          <a:bodyPr>
            <a:norm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here's a picture from the New York Endovascular Summit, back in December 2024 lecture: Interpretation of a C&amp;S Report by Dr. Mark A Kosinski</a:t>
            </a:r>
          </a:p>
        </p:txBody>
      </p:sp>
      <p:pic>
        <p:nvPicPr>
          <p:cNvPr id="6" name="Picture Placeholder 5">
            <a:extLst>
              <a:ext uri="{FF2B5EF4-FFF2-40B4-BE49-F238E27FC236}">
                <a16:creationId xmlns:a16="http://schemas.microsoft.com/office/drawing/2014/main" id="{86FB5B90-0F12-5119-8862-534A17AD34E6}"/>
              </a:ext>
            </a:extLst>
          </p:cNvPr>
          <p:cNvPicPr>
            <a:picLocks noGrp="1" noChangeAspect="1"/>
          </p:cNvPicPr>
          <p:nvPr>
            <p:ph type="pic" idx="1"/>
          </p:nvPr>
        </p:nvPicPr>
        <p:blipFill>
          <a:blip r:embed="rId2"/>
          <a:srcRect t="33" b="33"/>
          <a:stretch>
            <a:fillRect/>
          </a:stretch>
        </p:blipFill>
        <p:spPr/>
      </p:pic>
      <p:sp>
        <p:nvSpPr>
          <p:cNvPr id="4" name="Text Placeholder 3">
            <a:extLst>
              <a:ext uri="{FF2B5EF4-FFF2-40B4-BE49-F238E27FC236}">
                <a16:creationId xmlns:a16="http://schemas.microsoft.com/office/drawing/2014/main" id="{695B8BA1-7CAE-FD6C-4D90-F250F4EE0381}"/>
              </a:ext>
            </a:extLst>
          </p:cNvPr>
          <p:cNvSpPr>
            <a:spLocks noGrp="1"/>
          </p:cNvSpPr>
          <p:nvPr>
            <p:ph type="body" sz="half" idx="2"/>
          </p:nvPr>
        </p:nvSpPr>
        <p:spPr>
          <a:xfrm>
            <a:off x="150471" y="2385390"/>
            <a:ext cx="4834280" cy="4148519"/>
          </a:xfrm>
        </p:spPr>
        <p:txBody>
          <a:bodyPr/>
          <a:lstStyle/>
          <a:p>
            <a:r>
              <a:rPr lang="en-US" dirty="0"/>
              <a:t>A culture and sensitivity report from a Biochemical lab in Egypt, back to 2017.</a:t>
            </a:r>
          </a:p>
          <a:p>
            <a:r>
              <a:rPr lang="en-US" dirty="0"/>
              <a:t>The isolated organism is Klebsiella Pneumoniae, shown here resistant to all kinds of antibiotics, except colistin, which is nephrotoxic.</a:t>
            </a:r>
          </a:p>
        </p:txBody>
      </p:sp>
    </p:spTree>
    <p:extLst>
      <p:ext uri="{BB962C8B-B14F-4D97-AF65-F5344CB8AC3E}">
        <p14:creationId xmlns:p14="http://schemas.microsoft.com/office/powerpoint/2010/main" val="2956874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6842C01-964D-F46F-9534-D524FA5493D4}"/>
              </a:ext>
            </a:extLst>
          </p:cNvPr>
          <p:cNvPicPr>
            <a:picLocks noChangeAspect="1"/>
          </p:cNvPicPr>
          <p:nvPr/>
        </p:nvPicPr>
        <p:blipFill>
          <a:blip r:embed="rId2"/>
          <a:stretch>
            <a:fillRect/>
          </a:stretch>
        </p:blipFill>
        <p:spPr>
          <a:xfrm>
            <a:off x="185195" y="81024"/>
            <a:ext cx="11597833" cy="6620718"/>
          </a:xfrm>
          <a:prstGeom prst="rect">
            <a:avLst/>
          </a:prstGeom>
        </p:spPr>
      </p:pic>
    </p:spTree>
    <p:extLst>
      <p:ext uri="{BB962C8B-B14F-4D97-AF65-F5344CB8AC3E}">
        <p14:creationId xmlns:p14="http://schemas.microsoft.com/office/powerpoint/2010/main" val="363502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5AC65C8-D89E-8807-1E2E-E9DA5087255A}"/>
              </a:ext>
            </a:extLst>
          </p:cNvPr>
          <p:cNvSpPr>
            <a:spLocks noGrp="1"/>
          </p:cNvSpPr>
          <p:nvPr>
            <p:ph type="title"/>
          </p:nvPr>
        </p:nvSpPr>
        <p:spPr>
          <a:xfrm>
            <a:off x="327146" y="143138"/>
            <a:ext cx="10026650" cy="424022"/>
          </a:xfrm>
        </p:spPr>
        <p:txBody>
          <a:bodyPr>
            <a:normAutofit fontScale="90000"/>
          </a:bodyPr>
          <a:lstStyle/>
          <a:p>
            <a:r>
              <a:rPr lang="en-US" sz="1800" dirty="0"/>
              <a:t>Temporal Trends in Klebsiella Pneumoniae resistance rate </a:t>
            </a:r>
          </a:p>
        </p:txBody>
      </p:sp>
      <p:pic>
        <p:nvPicPr>
          <p:cNvPr id="10" name="Content Placeholder 9">
            <a:extLst>
              <a:ext uri="{FF2B5EF4-FFF2-40B4-BE49-F238E27FC236}">
                <a16:creationId xmlns:a16="http://schemas.microsoft.com/office/drawing/2014/main" id="{833E0758-4AC2-C302-599A-85998E4ADAAB}"/>
              </a:ext>
            </a:extLst>
          </p:cNvPr>
          <p:cNvPicPr>
            <a:picLocks noGrp="1" noChangeAspect="1"/>
          </p:cNvPicPr>
          <p:nvPr>
            <p:ph idx="1"/>
          </p:nvPr>
        </p:nvPicPr>
        <p:blipFill>
          <a:blip r:embed="rId3"/>
          <a:stretch>
            <a:fillRect/>
          </a:stretch>
        </p:blipFill>
        <p:spPr>
          <a:xfrm>
            <a:off x="327146" y="729205"/>
            <a:ext cx="11398008" cy="5966871"/>
          </a:xfrm>
        </p:spPr>
      </p:pic>
    </p:spTree>
    <p:extLst>
      <p:ext uri="{BB962C8B-B14F-4D97-AF65-F5344CB8AC3E}">
        <p14:creationId xmlns:p14="http://schemas.microsoft.com/office/powerpoint/2010/main" val="3429045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8B5700-3FF3-34D7-BFCC-8D19648C1C62}"/>
              </a:ext>
            </a:extLst>
          </p:cNvPr>
          <p:cNvPicPr>
            <a:picLocks noChangeAspect="1"/>
          </p:cNvPicPr>
          <p:nvPr/>
        </p:nvPicPr>
        <p:blipFill>
          <a:blip r:embed="rId2"/>
          <a:stretch>
            <a:fillRect/>
          </a:stretch>
        </p:blipFill>
        <p:spPr>
          <a:xfrm>
            <a:off x="141371" y="0"/>
            <a:ext cx="8504917" cy="6858000"/>
          </a:xfrm>
          <a:prstGeom prst="rect">
            <a:avLst/>
          </a:prstGeom>
        </p:spPr>
      </p:pic>
      <p:sp>
        <p:nvSpPr>
          <p:cNvPr id="4" name="Title 3">
            <a:extLst>
              <a:ext uri="{FF2B5EF4-FFF2-40B4-BE49-F238E27FC236}">
                <a16:creationId xmlns:a16="http://schemas.microsoft.com/office/drawing/2014/main" id="{C1628272-A963-47E7-7BDA-8BA4295C4FE1}"/>
              </a:ext>
            </a:extLst>
          </p:cNvPr>
          <p:cNvSpPr>
            <a:spLocks noGrp="1"/>
          </p:cNvSpPr>
          <p:nvPr>
            <p:ph type="ctrTitle"/>
          </p:nvPr>
        </p:nvSpPr>
        <p:spPr>
          <a:xfrm>
            <a:off x="8877783" y="717629"/>
            <a:ext cx="3172846" cy="431735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Distribution of resistance rate for Klebsiella Pneumoniae according to Culture type </a:t>
            </a:r>
          </a:p>
        </p:txBody>
      </p:sp>
    </p:spTree>
    <p:extLst>
      <p:ext uri="{BB962C8B-B14F-4D97-AF65-F5344CB8AC3E}">
        <p14:creationId xmlns:p14="http://schemas.microsoft.com/office/powerpoint/2010/main" val="3410219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89A02ED-97BE-78AA-6201-2CE794AF5639}"/>
              </a:ext>
            </a:extLst>
          </p:cNvPr>
          <p:cNvSpPr>
            <a:spLocks noGrp="1"/>
          </p:cNvSpPr>
          <p:nvPr>
            <p:ph type="title"/>
          </p:nvPr>
        </p:nvSpPr>
        <p:spPr>
          <a:xfrm>
            <a:off x="1082675" y="370703"/>
            <a:ext cx="10026650" cy="65563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Antibiotic Resistance according to classes</a:t>
            </a:r>
          </a:p>
        </p:txBody>
      </p:sp>
      <p:sp>
        <p:nvSpPr>
          <p:cNvPr id="11" name="Text Placeholder 10">
            <a:extLst>
              <a:ext uri="{FF2B5EF4-FFF2-40B4-BE49-F238E27FC236}">
                <a16:creationId xmlns:a16="http://schemas.microsoft.com/office/drawing/2014/main" id="{FDA8A657-0C02-2770-1D35-3DE79A756E86}"/>
              </a:ext>
            </a:extLst>
          </p:cNvPr>
          <p:cNvSpPr>
            <a:spLocks noGrp="1"/>
          </p:cNvSpPr>
          <p:nvPr>
            <p:ph type="body" idx="1"/>
          </p:nvPr>
        </p:nvSpPr>
        <p:spPr>
          <a:xfrm>
            <a:off x="510134" y="1026340"/>
            <a:ext cx="4741200" cy="553998"/>
          </a:xfrm>
        </p:spPr>
        <p:txBody>
          <a:bodyPr/>
          <a:lstStyle/>
          <a:p>
            <a:r>
              <a:rPr lang="en-US" dirty="0"/>
              <a:t>1.  Aminoglycosides</a:t>
            </a:r>
          </a:p>
        </p:txBody>
      </p:sp>
      <p:pic>
        <p:nvPicPr>
          <p:cNvPr id="16" name="Content Placeholder 15">
            <a:extLst>
              <a:ext uri="{FF2B5EF4-FFF2-40B4-BE49-F238E27FC236}">
                <a16:creationId xmlns:a16="http://schemas.microsoft.com/office/drawing/2014/main" id="{93A92796-EC88-B4D3-ADEE-0D691064DE87}"/>
              </a:ext>
            </a:extLst>
          </p:cNvPr>
          <p:cNvPicPr>
            <a:picLocks noGrp="1" noChangeAspect="1"/>
          </p:cNvPicPr>
          <p:nvPr>
            <p:ph sz="half" idx="2"/>
          </p:nvPr>
        </p:nvPicPr>
        <p:blipFill>
          <a:blip r:embed="rId2"/>
          <a:stretch>
            <a:fillRect/>
          </a:stretch>
        </p:blipFill>
        <p:spPr>
          <a:xfrm>
            <a:off x="481914" y="1851949"/>
            <a:ext cx="5129021" cy="4635348"/>
          </a:xfrm>
        </p:spPr>
      </p:pic>
      <p:sp>
        <p:nvSpPr>
          <p:cNvPr id="13" name="Text Placeholder 12">
            <a:extLst>
              <a:ext uri="{FF2B5EF4-FFF2-40B4-BE49-F238E27FC236}">
                <a16:creationId xmlns:a16="http://schemas.microsoft.com/office/drawing/2014/main" id="{25529334-CBDA-A203-72DB-421DE6A40B8C}"/>
              </a:ext>
            </a:extLst>
          </p:cNvPr>
          <p:cNvSpPr>
            <a:spLocks noGrp="1"/>
          </p:cNvSpPr>
          <p:nvPr>
            <p:ph type="body" sz="quarter" idx="3"/>
          </p:nvPr>
        </p:nvSpPr>
        <p:spPr>
          <a:xfrm>
            <a:off x="6935035" y="1026340"/>
            <a:ext cx="4741200" cy="553998"/>
          </a:xfrm>
        </p:spPr>
        <p:txBody>
          <a:bodyPr/>
          <a:lstStyle/>
          <a:p>
            <a:r>
              <a:rPr lang="en-US" dirty="0"/>
              <a:t>2. 3</a:t>
            </a:r>
            <a:r>
              <a:rPr lang="en-US" baseline="30000" dirty="0"/>
              <a:t>rd</a:t>
            </a:r>
            <a:r>
              <a:rPr lang="en-US" dirty="0"/>
              <a:t>/4</a:t>
            </a:r>
            <a:r>
              <a:rPr lang="en-US" baseline="30000" dirty="0"/>
              <a:t>th</a:t>
            </a:r>
            <a:r>
              <a:rPr lang="en-US" dirty="0"/>
              <a:t> Generation </a:t>
            </a:r>
            <a:r>
              <a:rPr lang="en-US" dirty="0" err="1"/>
              <a:t>Cephaosporines</a:t>
            </a:r>
            <a:r>
              <a:rPr lang="en-US" dirty="0"/>
              <a:t> </a:t>
            </a:r>
          </a:p>
        </p:txBody>
      </p:sp>
      <p:pic>
        <p:nvPicPr>
          <p:cNvPr id="18" name="Content Placeholder 17">
            <a:extLst>
              <a:ext uri="{FF2B5EF4-FFF2-40B4-BE49-F238E27FC236}">
                <a16:creationId xmlns:a16="http://schemas.microsoft.com/office/drawing/2014/main" id="{76C42E45-5525-0572-2659-BF885C63B6CF}"/>
              </a:ext>
            </a:extLst>
          </p:cNvPr>
          <p:cNvPicPr>
            <a:picLocks noGrp="1" noChangeAspect="1"/>
          </p:cNvPicPr>
          <p:nvPr>
            <p:ph sz="quarter" idx="4"/>
          </p:nvPr>
        </p:nvPicPr>
        <p:blipFill>
          <a:blip r:embed="rId3"/>
          <a:stretch>
            <a:fillRect/>
          </a:stretch>
        </p:blipFill>
        <p:spPr>
          <a:xfrm>
            <a:off x="6574715" y="1851948"/>
            <a:ext cx="5040636" cy="4635348"/>
          </a:xfrm>
        </p:spPr>
      </p:pic>
    </p:spTree>
    <p:extLst>
      <p:ext uri="{BB962C8B-B14F-4D97-AF65-F5344CB8AC3E}">
        <p14:creationId xmlns:p14="http://schemas.microsoft.com/office/powerpoint/2010/main" val="4114025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876126-FF63-2012-ED3B-3ECAA4F6D8B7}"/>
              </a:ext>
            </a:extLst>
          </p:cNvPr>
          <p:cNvSpPr>
            <a:spLocks noGrp="1"/>
          </p:cNvSpPr>
          <p:nvPr>
            <p:ph type="body" idx="1"/>
          </p:nvPr>
        </p:nvSpPr>
        <p:spPr>
          <a:xfrm>
            <a:off x="753171" y="650433"/>
            <a:ext cx="4741200" cy="553998"/>
          </a:xfrm>
        </p:spPr>
        <p:txBody>
          <a:bodyPr/>
          <a:lstStyle/>
          <a:p>
            <a:r>
              <a:rPr lang="en-US" dirty="0"/>
              <a:t>3.fluoroquinolones</a:t>
            </a:r>
          </a:p>
        </p:txBody>
      </p:sp>
      <p:pic>
        <p:nvPicPr>
          <p:cNvPr id="8" name="Content Placeholder 7">
            <a:extLst>
              <a:ext uri="{FF2B5EF4-FFF2-40B4-BE49-F238E27FC236}">
                <a16:creationId xmlns:a16="http://schemas.microsoft.com/office/drawing/2014/main" id="{FD7DC7D1-1A95-4651-7F30-A2880E95F197}"/>
              </a:ext>
            </a:extLst>
          </p:cNvPr>
          <p:cNvPicPr>
            <a:picLocks noGrp="1" noChangeAspect="1"/>
          </p:cNvPicPr>
          <p:nvPr>
            <p:ph sz="half" idx="2"/>
          </p:nvPr>
        </p:nvPicPr>
        <p:blipFill>
          <a:blip r:embed="rId2"/>
          <a:stretch>
            <a:fillRect/>
          </a:stretch>
        </p:blipFill>
        <p:spPr>
          <a:xfrm>
            <a:off x="636608" y="1828800"/>
            <a:ext cx="4974327" cy="4584357"/>
          </a:xfrm>
        </p:spPr>
      </p:pic>
      <p:sp>
        <p:nvSpPr>
          <p:cNvPr id="5" name="Text Placeholder 4">
            <a:extLst>
              <a:ext uri="{FF2B5EF4-FFF2-40B4-BE49-F238E27FC236}">
                <a16:creationId xmlns:a16="http://schemas.microsoft.com/office/drawing/2014/main" id="{63A8F6AF-7E2A-8368-7422-8C12A68E6DE0}"/>
              </a:ext>
            </a:extLst>
          </p:cNvPr>
          <p:cNvSpPr>
            <a:spLocks noGrp="1"/>
          </p:cNvSpPr>
          <p:nvPr>
            <p:ph type="body" sz="quarter" idx="3"/>
          </p:nvPr>
        </p:nvSpPr>
        <p:spPr>
          <a:xfrm>
            <a:off x="6464481" y="651890"/>
            <a:ext cx="4741200" cy="553998"/>
          </a:xfrm>
        </p:spPr>
        <p:txBody>
          <a:bodyPr/>
          <a:lstStyle/>
          <a:p>
            <a:r>
              <a:rPr lang="en-US" dirty="0"/>
              <a:t>4. Folate pathway inhibitors</a:t>
            </a:r>
          </a:p>
        </p:txBody>
      </p:sp>
      <p:pic>
        <p:nvPicPr>
          <p:cNvPr id="10" name="Content Placeholder 9">
            <a:extLst>
              <a:ext uri="{FF2B5EF4-FFF2-40B4-BE49-F238E27FC236}">
                <a16:creationId xmlns:a16="http://schemas.microsoft.com/office/drawing/2014/main" id="{AEBEC812-D5AA-433D-3A49-B8E05649D316}"/>
              </a:ext>
            </a:extLst>
          </p:cNvPr>
          <p:cNvPicPr>
            <a:picLocks noGrp="1" noChangeAspect="1"/>
          </p:cNvPicPr>
          <p:nvPr>
            <p:ph sz="quarter" idx="4"/>
          </p:nvPr>
        </p:nvPicPr>
        <p:blipFill>
          <a:blip r:embed="rId3"/>
          <a:stretch>
            <a:fillRect/>
          </a:stretch>
        </p:blipFill>
        <p:spPr>
          <a:xfrm>
            <a:off x="6203092" y="1828800"/>
            <a:ext cx="5263979" cy="4584357"/>
          </a:xfrm>
        </p:spPr>
      </p:pic>
    </p:spTree>
    <p:extLst>
      <p:ext uri="{BB962C8B-B14F-4D97-AF65-F5344CB8AC3E}">
        <p14:creationId xmlns:p14="http://schemas.microsoft.com/office/powerpoint/2010/main" val="1030794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E99E73-1F8C-349F-5A2D-2F84BB9FDB66}"/>
              </a:ext>
            </a:extLst>
          </p:cNvPr>
          <p:cNvPicPr>
            <a:picLocks noChangeAspect="1"/>
          </p:cNvPicPr>
          <p:nvPr/>
        </p:nvPicPr>
        <p:blipFill>
          <a:blip r:embed="rId3"/>
          <a:stretch>
            <a:fillRect/>
          </a:stretch>
        </p:blipFill>
        <p:spPr>
          <a:xfrm>
            <a:off x="3870326" y="357187"/>
            <a:ext cx="8191500" cy="6143625"/>
          </a:xfrm>
          <a:prstGeom prst="rect">
            <a:avLst/>
          </a:prstGeom>
        </p:spPr>
      </p:pic>
      <p:sp>
        <p:nvSpPr>
          <p:cNvPr id="6" name="Title 5">
            <a:extLst>
              <a:ext uri="{FF2B5EF4-FFF2-40B4-BE49-F238E27FC236}">
                <a16:creationId xmlns:a16="http://schemas.microsoft.com/office/drawing/2014/main" id="{70D45025-B34A-0AF1-9997-48EE6D720F95}"/>
              </a:ext>
            </a:extLst>
          </p:cNvPr>
          <p:cNvSpPr>
            <a:spLocks noGrp="1"/>
          </p:cNvSpPr>
          <p:nvPr>
            <p:ph type="ctrTitle"/>
          </p:nvPr>
        </p:nvSpPr>
        <p:spPr>
          <a:xfrm>
            <a:off x="130174" y="474562"/>
            <a:ext cx="3439851" cy="3194612"/>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Illustration of the proportion of inpatient vs outpatient cultures and the correlation between </a:t>
            </a:r>
            <a:r>
              <a:rPr lang="en-US" sz="2000" dirty="0" err="1">
                <a:latin typeface="Calibri" panose="020F0502020204030204" pitchFamily="34" charset="0"/>
                <a:ea typeface="Calibri" panose="020F0502020204030204" pitchFamily="34" charset="0"/>
                <a:cs typeface="Calibri" panose="020F0502020204030204" pitchFamily="34" charset="0"/>
              </a:rPr>
              <a:t>k.pneumoniae</a:t>
            </a:r>
            <a:r>
              <a:rPr lang="en-US" sz="2000" dirty="0">
                <a:latin typeface="Calibri" panose="020F0502020204030204" pitchFamily="34" charset="0"/>
                <a:ea typeface="Calibri" panose="020F0502020204030204" pitchFamily="34" charset="0"/>
                <a:cs typeface="Calibri" panose="020F0502020204030204" pitchFamily="34" charset="0"/>
              </a:rPr>
              <a:t> and nosocomial Infection </a:t>
            </a:r>
          </a:p>
        </p:txBody>
      </p:sp>
    </p:spTree>
    <p:extLst>
      <p:ext uri="{BB962C8B-B14F-4D97-AF65-F5344CB8AC3E}">
        <p14:creationId xmlns:p14="http://schemas.microsoft.com/office/powerpoint/2010/main" val="3760724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3BC748-F08F-A5CE-61D2-2E96D4B216DF}"/>
              </a:ext>
            </a:extLst>
          </p:cNvPr>
          <p:cNvPicPr>
            <a:picLocks noChangeAspect="1"/>
          </p:cNvPicPr>
          <p:nvPr/>
        </p:nvPicPr>
        <p:blipFill>
          <a:blip r:embed="rId2"/>
          <a:stretch>
            <a:fillRect/>
          </a:stretch>
        </p:blipFill>
        <p:spPr>
          <a:xfrm>
            <a:off x="3598339" y="347232"/>
            <a:ext cx="8211696" cy="6163535"/>
          </a:xfrm>
          <a:prstGeom prst="rect">
            <a:avLst/>
          </a:prstGeom>
        </p:spPr>
      </p:pic>
      <p:sp>
        <p:nvSpPr>
          <p:cNvPr id="4" name="Title 3">
            <a:extLst>
              <a:ext uri="{FF2B5EF4-FFF2-40B4-BE49-F238E27FC236}">
                <a16:creationId xmlns:a16="http://schemas.microsoft.com/office/drawing/2014/main" id="{2EC4B9BE-5A74-0D78-97E2-3D469536A0CB}"/>
              </a:ext>
            </a:extLst>
          </p:cNvPr>
          <p:cNvSpPr>
            <a:spLocks noGrp="1"/>
          </p:cNvSpPr>
          <p:nvPr>
            <p:ph type="title"/>
          </p:nvPr>
        </p:nvSpPr>
        <p:spPr>
          <a:xfrm>
            <a:off x="127322" y="290653"/>
            <a:ext cx="3217762" cy="1631380"/>
          </a:xfrm>
        </p:spPr>
        <p:txBody>
          <a:bodyPr>
            <a:no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Visualizing the relationship between age and Klebsiella pneumoniae infection</a:t>
            </a:r>
          </a:p>
        </p:txBody>
      </p:sp>
      <p:sp>
        <p:nvSpPr>
          <p:cNvPr id="6" name="Text Placeholder 5">
            <a:extLst>
              <a:ext uri="{FF2B5EF4-FFF2-40B4-BE49-F238E27FC236}">
                <a16:creationId xmlns:a16="http://schemas.microsoft.com/office/drawing/2014/main" id="{4445FBEA-9F53-166B-24DC-F315A78DE3F7}"/>
              </a:ext>
            </a:extLst>
          </p:cNvPr>
          <p:cNvSpPr>
            <a:spLocks noGrp="1"/>
          </p:cNvSpPr>
          <p:nvPr>
            <p:ph type="body" sz="half" idx="2"/>
          </p:nvPr>
        </p:nvSpPr>
        <p:spPr>
          <a:xfrm>
            <a:off x="127322" y="2303363"/>
            <a:ext cx="3217762" cy="4207404"/>
          </a:xfrm>
        </p:spPr>
        <p:txBody>
          <a:bodyPr>
            <a:normAutofit fontScale="85000" lnSpcReduction="10000"/>
          </a:bodyPr>
          <a:lstStyle/>
          <a:p>
            <a:r>
              <a:rPr lang="en-US" dirty="0"/>
              <a:t>These observations may reflect differences in the selected populations studied. It is not surprising that advanced age was associated with an increased risk because this has been a fairly consistent observation across many previous studies and may be reflective of an age-associated increased risk in general for the comorbid illnesses highly associated with increased risk.</a:t>
            </a:r>
          </a:p>
        </p:txBody>
      </p:sp>
    </p:spTree>
    <p:extLst>
      <p:ext uri="{BB962C8B-B14F-4D97-AF65-F5344CB8AC3E}">
        <p14:creationId xmlns:p14="http://schemas.microsoft.com/office/powerpoint/2010/main" val="1336496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E4DC-0874-3178-E2C3-98389C3593C7}"/>
              </a:ext>
            </a:extLst>
          </p:cNvPr>
          <p:cNvSpPr>
            <a:spLocks noGrp="1"/>
          </p:cNvSpPr>
          <p:nvPr>
            <p:ph type="title"/>
          </p:nvPr>
        </p:nvSpPr>
        <p:spPr>
          <a:xfrm>
            <a:off x="1079500" y="422477"/>
            <a:ext cx="3905250" cy="607670"/>
          </a:xfrm>
        </p:spPr>
        <p:txBody>
          <a:bodyPr/>
          <a:lstStyle/>
          <a:p>
            <a:r>
              <a:rPr lang="en-US" dirty="0"/>
              <a:t>Key Message </a:t>
            </a:r>
          </a:p>
        </p:txBody>
      </p:sp>
      <p:sp>
        <p:nvSpPr>
          <p:cNvPr id="4" name="Text Placeholder 3">
            <a:extLst>
              <a:ext uri="{FF2B5EF4-FFF2-40B4-BE49-F238E27FC236}">
                <a16:creationId xmlns:a16="http://schemas.microsoft.com/office/drawing/2014/main" id="{DB35DBE2-1BD8-4F00-556C-04DD761F3904}"/>
              </a:ext>
            </a:extLst>
          </p:cNvPr>
          <p:cNvSpPr>
            <a:spLocks noGrp="1"/>
          </p:cNvSpPr>
          <p:nvPr>
            <p:ph type="body" sz="half" idx="2"/>
          </p:nvPr>
        </p:nvSpPr>
        <p:spPr>
          <a:xfrm>
            <a:off x="1079500" y="1030147"/>
            <a:ext cx="9048348" cy="5405377"/>
          </a:xfrm>
        </p:spPr>
        <p:txBody>
          <a:bodyPr/>
          <a:lstStyle/>
          <a:p>
            <a:pPr marL="457200" indent="-457200">
              <a:buAutoNum type="arabicPeriod"/>
            </a:pPr>
            <a:r>
              <a:rPr lang="en-US" dirty="0"/>
              <a:t>This project showed that the overall antibiotic resistance rate of Klebsiella pneumoniae increased significantly compared to 10 years previously.</a:t>
            </a:r>
          </a:p>
          <a:p>
            <a:pPr marL="457200" indent="-457200">
              <a:buAutoNum type="arabicPeriod"/>
            </a:pPr>
            <a:r>
              <a:rPr lang="en-US" dirty="0"/>
              <a:t>-   Broad-spectrum antibiotics are more commonly used for empirical treatment of both community-acquired and healthcare-associated infections compared to 10 years ago.</a:t>
            </a:r>
          </a:p>
          <a:p>
            <a:pPr marL="457200" indent="-457200">
              <a:buAutoNum type="arabicPeriod"/>
            </a:pPr>
            <a:r>
              <a:rPr lang="en-US" dirty="0"/>
              <a:t>-   Unnecessary use of broad-spectrum antibiotics can be reduced if K. pneumoniae bacteremia is suspicious and there are no healthcare risk factors, because antibiotic resistance in community-acquired K. pneumoniae bacteremia was not increased.</a:t>
            </a:r>
          </a:p>
        </p:txBody>
      </p:sp>
    </p:spTree>
    <p:extLst>
      <p:ext uri="{BB962C8B-B14F-4D97-AF65-F5344CB8AC3E}">
        <p14:creationId xmlns:p14="http://schemas.microsoft.com/office/powerpoint/2010/main" val="180910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5471F2-E819-B449-C776-895A8E9A25B5}"/>
              </a:ext>
            </a:extLst>
          </p:cNvPr>
          <p:cNvSpPr>
            <a:spLocks noGrp="1"/>
          </p:cNvSpPr>
          <p:nvPr>
            <p:ph type="ctrTitle"/>
          </p:nvPr>
        </p:nvSpPr>
        <p:spPr>
          <a:xfrm>
            <a:off x="270599" y="215659"/>
            <a:ext cx="8051075" cy="409374"/>
          </a:xfrm>
        </p:spPr>
        <p:txBody>
          <a:bodyPr>
            <a:normAutofit fontScale="90000"/>
          </a:bodyPr>
          <a:lstStyle/>
          <a:p>
            <a:pPr algn="l"/>
            <a:r>
              <a:rPr lang="en-US" dirty="0"/>
              <a:t>References</a:t>
            </a:r>
          </a:p>
        </p:txBody>
      </p:sp>
      <p:sp>
        <p:nvSpPr>
          <p:cNvPr id="6" name="Subtitle 5">
            <a:extLst>
              <a:ext uri="{FF2B5EF4-FFF2-40B4-BE49-F238E27FC236}">
                <a16:creationId xmlns:a16="http://schemas.microsoft.com/office/drawing/2014/main" id="{2BF7CB05-AA3E-F64B-72D7-364D06FE1A29}"/>
              </a:ext>
            </a:extLst>
          </p:cNvPr>
          <p:cNvSpPr>
            <a:spLocks noGrp="1"/>
          </p:cNvSpPr>
          <p:nvPr>
            <p:ph type="subTitle" idx="1"/>
          </p:nvPr>
        </p:nvSpPr>
        <p:spPr>
          <a:xfrm>
            <a:off x="270599" y="844952"/>
            <a:ext cx="11246211" cy="5473298"/>
          </a:xfrm>
        </p:spPr>
        <p:txBody>
          <a:bodyPr/>
          <a:lstStyle/>
          <a:p>
            <a:pPr algn="l">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1.Nateghi </a:t>
            </a:r>
            <a:r>
              <a:rPr lang="en-US" sz="1800" kern="100" dirty="0" err="1">
                <a:effectLst/>
                <a:latin typeface="Calibri" panose="020F0502020204030204" pitchFamily="34" charset="0"/>
                <a:ea typeface="Calibri" panose="020F0502020204030204" pitchFamily="34" charset="0"/>
                <a:cs typeface="Arial" panose="020B0604020202020204" pitchFamily="34" charset="0"/>
              </a:rPr>
              <a:t>Haredasht</a:t>
            </a:r>
            <a:r>
              <a:rPr lang="en-US" sz="1800" kern="100" dirty="0">
                <a:effectLst/>
                <a:latin typeface="Calibri" panose="020F0502020204030204" pitchFamily="34" charset="0"/>
                <a:ea typeface="Calibri" panose="020F0502020204030204" pitchFamily="34" charset="0"/>
                <a:cs typeface="Arial" panose="020B0604020202020204" pitchFamily="34" charset="0"/>
              </a:rPr>
              <a:t>, Fateme; </a:t>
            </a:r>
            <a:r>
              <a:rPr lang="en-US" sz="1800" kern="100" dirty="0" err="1">
                <a:effectLst/>
                <a:latin typeface="Calibri" panose="020F0502020204030204" pitchFamily="34" charset="0"/>
                <a:ea typeface="Calibri" panose="020F0502020204030204" pitchFamily="34" charset="0"/>
                <a:cs typeface="Arial" panose="020B0604020202020204" pitchFamily="34" charset="0"/>
              </a:rPr>
              <a:t>Amrollahi</a:t>
            </a:r>
            <a:r>
              <a:rPr lang="en-US" sz="1800" kern="100" dirty="0">
                <a:effectLst/>
                <a:latin typeface="Calibri" panose="020F0502020204030204" pitchFamily="34" charset="0"/>
                <a:ea typeface="Calibri" panose="020F0502020204030204" pitchFamily="34" charset="0"/>
                <a:cs typeface="Arial" panose="020B0604020202020204" pitchFamily="34" charset="0"/>
              </a:rPr>
              <a:t>, Fatemeh; Maddali, Manoj et al. (2025). Antibiotic Resistance Microbiology Dataset (ARMD): A de-identified resource for studying antimicrobial resistance using electronic health records [Dataset]. Dryad. </a:t>
            </a:r>
            <a:r>
              <a:rPr lang="en-US" sz="1800" u="sng" kern="100"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2"/>
              </a:rPr>
              <a:t>https://doi.org/10.5061/dryad.jq2bvq8kp</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2.Antibiotic resistance; MacGowan, Alasdair et </a:t>
            </a:r>
            <a:r>
              <a:rPr lang="en-US" sz="1800" kern="100" dirty="0" err="1">
                <a:effectLst/>
                <a:latin typeface="Calibri" panose="020F0502020204030204" pitchFamily="34" charset="0"/>
                <a:ea typeface="Calibri" panose="020F0502020204030204" pitchFamily="34" charset="0"/>
                <a:cs typeface="Arial" panose="020B0604020202020204" pitchFamily="34" charset="0"/>
              </a:rPr>
              <a:t>al.Medicine</a:t>
            </a:r>
            <a:r>
              <a:rPr lang="en-US" sz="1800" kern="100" dirty="0">
                <a:effectLst/>
                <a:latin typeface="Calibri" panose="020F0502020204030204" pitchFamily="34" charset="0"/>
                <a:ea typeface="Calibri" panose="020F0502020204030204" pitchFamily="34" charset="0"/>
                <a:cs typeface="Arial" panose="020B0604020202020204" pitchFamily="34" charset="0"/>
              </a:rPr>
              <a:t>, Volume 45, Issue 10, 622 – 628</a:t>
            </a:r>
          </a:p>
          <a:p>
            <a:pPr algn="l">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3.Effah, C.Y., Sun, T., Liu, S. </a:t>
            </a:r>
            <a:r>
              <a:rPr lang="en-US" sz="1800" i="1" kern="100" dirty="0">
                <a:effectLst/>
                <a:latin typeface="Calibri" panose="020F0502020204030204" pitchFamily="34" charset="0"/>
                <a:ea typeface="Calibri" panose="020F0502020204030204" pitchFamily="34" charset="0"/>
                <a:cs typeface="Arial" panose="020B0604020202020204" pitchFamily="34" charset="0"/>
              </a:rPr>
              <a:t>et al.</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r>
              <a:rPr lang="en-US" sz="1800" i="1" kern="100" dirty="0">
                <a:effectLst/>
                <a:latin typeface="Calibri" panose="020F0502020204030204" pitchFamily="34" charset="0"/>
                <a:ea typeface="Calibri" panose="020F0502020204030204" pitchFamily="34" charset="0"/>
                <a:cs typeface="Arial" panose="020B0604020202020204" pitchFamily="34" charset="0"/>
              </a:rPr>
              <a:t>Klebsiella pneumoniae</a:t>
            </a:r>
            <a:r>
              <a:rPr lang="en-US" sz="1800" kern="100" dirty="0">
                <a:effectLst/>
                <a:latin typeface="Calibri" panose="020F0502020204030204" pitchFamily="34" charset="0"/>
                <a:ea typeface="Calibri" panose="020F0502020204030204" pitchFamily="34" charset="0"/>
                <a:cs typeface="Arial" panose="020B0604020202020204" pitchFamily="34" charset="0"/>
              </a:rPr>
              <a:t>: an increasing threat to public health. </a:t>
            </a:r>
            <a:r>
              <a:rPr lang="en-US" sz="1800" i="1" kern="100" dirty="0">
                <a:effectLst/>
                <a:latin typeface="Calibri" panose="020F0502020204030204" pitchFamily="34" charset="0"/>
                <a:ea typeface="Calibri" panose="020F0502020204030204" pitchFamily="34" charset="0"/>
                <a:cs typeface="Arial" panose="020B0604020202020204" pitchFamily="34" charset="0"/>
              </a:rPr>
              <a:t>Ann Clin </a:t>
            </a:r>
            <a:r>
              <a:rPr lang="en-US" sz="1800" i="1" kern="100" dirty="0" err="1">
                <a:effectLst/>
                <a:latin typeface="Calibri" panose="020F0502020204030204" pitchFamily="34" charset="0"/>
                <a:ea typeface="Calibri" panose="020F0502020204030204" pitchFamily="34" charset="0"/>
                <a:cs typeface="Arial" panose="020B0604020202020204" pitchFamily="34" charset="0"/>
              </a:rPr>
              <a:t>Microbiol</a:t>
            </a:r>
            <a:r>
              <a:rPr lang="en-US" sz="1800" i="1" kern="100" dirty="0">
                <a:effectLst/>
                <a:latin typeface="Calibri" panose="020F0502020204030204" pitchFamily="34" charset="0"/>
                <a:ea typeface="Calibri" panose="020F0502020204030204" pitchFamily="34" charset="0"/>
                <a:cs typeface="Arial" panose="020B0604020202020204" pitchFamily="34" charset="0"/>
              </a:rPr>
              <a:t> </a:t>
            </a:r>
            <a:r>
              <a:rPr lang="en-US" sz="1800" i="1" kern="100" dirty="0" err="1">
                <a:effectLst/>
                <a:latin typeface="Calibri" panose="020F0502020204030204" pitchFamily="34" charset="0"/>
                <a:ea typeface="Calibri" panose="020F0502020204030204" pitchFamily="34" charset="0"/>
                <a:cs typeface="Arial" panose="020B0604020202020204" pitchFamily="34" charset="0"/>
              </a:rPr>
              <a:t>Antimicrob</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r>
              <a:rPr lang="en-US" sz="1800" b="1" kern="100" dirty="0">
                <a:effectLst/>
                <a:latin typeface="Calibri" panose="020F0502020204030204" pitchFamily="34" charset="0"/>
                <a:ea typeface="Calibri" panose="020F0502020204030204" pitchFamily="34" charset="0"/>
                <a:cs typeface="Arial" panose="020B0604020202020204" pitchFamily="34" charset="0"/>
              </a:rPr>
              <a:t>19</a:t>
            </a:r>
            <a:r>
              <a:rPr lang="en-US" sz="1800" kern="100" dirty="0">
                <a:effectLst/>
                <a:latin typeface="Calibri" panose="020F0502020204030204" pitchFamily="34" charset="0"/>
                <a:ea typeface="Calibri" panose="020F0502020204030204" pitchFamily="34" charset="0"/>
                <a:cs typeface="Arial" panose="020B0604020202020204" pitchFamily="34" charset="0"/>
              </a:rPr>
              <a:t>, 1 (2020).https://doi.org/10.1186/s12941-019-0343-8</a:t>
            </a:r>
          </a:p>
          <a:p>
            <a:pPr algn="l">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Arial" panose="020B0604020202020204" pitchFamily="34" charset="0"/>
              </a:rPr>
              <a:t>4</a:t>
            </a: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800" u="none" strike="noStrike"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3"/>
              </a:rPr>
              <a:t>Miri Hyun</a:t>
            </a: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u="none" strike="noStrike"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4"/>
              </a:rPr>
              <a:t>Chang In Noh</a:t>
            </a: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u="none" strike="noStrike"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5"/>
              </a:rPr>
              <a:t>Seong Yeol Ryu</a:t>
            </a: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u="none" strike="noStrike"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hlinkClick r:id="rId6"/>
              </a:rPr>
              <a:t>Hyun Ah Kim</a:t>
            </a:r>
            <a:r>
              <a:rPr lang="en-US" sz="1800" kern="100" dirty="0">
                <a:effectLst/>
                <a:latin typeface="Calibri" panose="020F0502020204030204" pitchFamily="34" charset="0"/>
                <a:ea typeface="Calibri" panose="020F0502020204030204" pitchFamily="34" charset="0"/>
                <a:cs typeface="Arial" panose="020B0604020202020204" pitchFamily="34" charset="0"/>
              </a:rPr>
              <a:t>. Changing trends in clinical characteristics and antibiotic susceptibility of </a:t>
            </a:r>
            <a:r>
              <a:rPr lang="en-US" sz="1800" i="1" kern="100" dirty="0">
                <a:effectLst/>
                <a:latin typeface="Calibri" panose="020F0502020204030204" pitchFamily="34" charset="0"/>
                <a:ea typeface="Calibri" panose="020F0502020204030204" pitchFamily="34" charset="0"/>
                <a:cs typeface="Arial" panose="020B0604020202020204" pitchFamily="34" charset="0"/>
              </a:rPr>
              <a:t>Klebsiella pneumoniae</a:t>
            </a:r>
            <a:r>
              <a:rPr lang="en-US" sz="1800" kern="100" dirty="0">
                <a:effectLst/>
                <a:latin typeface="Calibri" panose="020F0502020204030204" pitchFamily="34" charset="0"/>
                <a:ea typeface="Calibri" panose="020F0502020204030204" pitchFamily="34" charset="0"/>
                <a:cs typeface="Arial" panose="020B0604020202020204" pitchFamily="34" charset="0"/>
              </a:rPr>
              <a:t> bacteremia.(2018 ) :</a:t>
            </a:r>
            <a:r>
              <a:rPr lang="en-US" sz="1800" u="sng" kern="100"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7"/>
              </a:rPr>
              <a:t>https://doi.org/10.3904/kjim.2015.257</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15000"/>
              </a:lnSpc>
              <a:spcAft>
                <a:spcPts val="800"/>
              </a:spcAft>
            </a:pPr>
            <a:r>
              <a:rPr lang="en-US" sz="1800" kern="100" dirty="0">
                <a:effectLst/>
                <a:latin typeface="Calibri" panose="020F0502020204030204" pitchFamily="34" charset="0"/>
                <a:ea typeface="Calibri" panose="020F0502020204030204" pitchFamily="34" charset="0"/>
                <a:cs typeface="Arial" panose="020B0604020202020204" pitchFamily="34" charset="0"/>
              </a:rPr>
              <a:t>5.Shiri Navon-Venezia, Kira Kondratyeva, Alessandra </a:t>
            </a:r>
            <a:r>
              <a:rPr lang="en-US" sz="1800" kern="100" dirty="0" err="1">
                <a:effectLst/>
                <a:latin typeface="Calibri" panose="020F0502020204030204" pitchFamily="34" charset="0"/>
                <a:ea typeface="Calibri" panose="020F0502020204030204" pitchFamily="34" charset="0"/>
                <a:cs typeface="Arial" panose="020B0604020202020204" pitchFamily="34" charset="0"/>
              </a:rPr>
              <a:t>Carattoli</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r>
              <a:rPr lang="en-US" sz="1800" i="1" kern="100" dirty="0">
                <a:effectLst/>
                <a:latin typeface="Calibri" panose="020F0502020204030204" pitchFamily="34" charset="0"/>
                <a:ea typeface="Calibri" panose="020F0502020204030204" pitchFamily="34" charset="0"/>
                <a:cs typeface="Arial" panose="020B0604020202020204" pitchFamily="34" charset="0"/>
              </a:rPr>
              <a:t>Klebsiella pneumoniae</a:t>
            </a:r>
            <a:r>
              <a:rPr lang="en-US" sz="1800" kern="100" dirty="0">
                <a:effectLst/>
                <a:latin typeface="Calibri" panose="020F0502020204030204" pitchFamily="34" charset="0"/>
                <a:ea typeface="Calibri" panose="020F0502020204030204" pitchFamily="34" charset="0"/>
                <a:cs typeface="Arial" panose="020B0604020202020204" pitchFamily="34" charset="0"/>
              </a:rPr>
              <a:t>: a major worldwide source and shuttle for antibiotic resistance, </a:t>
            </a:r>
            <a:r>
              <a:rPr lang="en-US" sz="1800" i="1" kern="100" dirty="0">
                <a:effectLst/>
                <a:latin typeface="Calibri" panose="020F0502020204030204" pitchFamily="34" charset="0"/>
                <a:ea typeface="Calibri" panose="020F0502020204030204" pitchFamily="34" charset="0"/>
                <a:cs typeface="Arial" panose="020B0604020202020204" pitchFamily="34" charset="0"/>
              </a:rPr>
              <a:t>FEMS Microbiology Reviews</a:t>
            </a:r>
            <a:r>
              <a:rPr lang="en-US" sz="1800" kern="100" dirty="0">
                <a:effectLst/>
                <a:latin typeface="Calibri" panose="020F0502020204030204" pitchFamily="34" charset="0"/>
                <a:ea typeface="Calibri" panose="020F0502020204030204" pitchFamily="34" charset="0"/>
                <a:cs typeface="Arial" panose="020B0604020202020204" pitchFamily="34" charset="0"/>
              </a:rPr>
              <a:t>, Volume 41, Issue 3, May 2017, Pages 252–275, </a:t>
            </a:r>
            <a:r>
              <a:rPr lang="en-US" sz="1800" u="sng" kern="100"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8"/>
              </a:rPr>
              <a:t>https://doi.org/10.1093/femsre/fux013</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l"/>
            <a:endParaRPr lang="en-US" dirty="0"/>
          </a:p>
        </p:txBody>
      </p:sp>
    </p:spTree>
    <p:extLst>
      <p:ext uri="{BB962C8B-B14F-4D97-AF65-F5344CB8AC3E}">
        <p14:creationId xmlns:p14="http://schemas.microsoft.com/office/powerpoint/2010/main" val="2148125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152CD-4C4C-9E44-BE9B-72AB9835E6A9}"/>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F3F2E30C-1333-5529-886B-FD732D3DCBD3}"/>
              </a:ext>
            </a:extLst>
          </p:cNvPr>
          <p:cNvSpPr>
            <a:spLocks noGrp="1"/>
          </p:cNvSpPr>
          <p:nvPr>
            <p:ph type="subTitle" idx="1"/>
          </p:nvPr>
        </p:nvSpPr>
        <p:spPr/>
        <p:txBody>
          <a:bodyPr/>
          <a:lstStyle/>
          <a:p>
            <a:r>
              <a:rPr lang="en-US" dirty="0">
                <a:hlinkClick r:id="rId3"/>
              </a:rPr>
              <a:t>reem.emeghalawy.vet@gmail.com</a:t>
            </a:r>
            <a:endParaRPr lang="en-US" dirty="0"/>
          </a:p>
          <a:p>
            <a:r>
              <a:rPr lang="en-US" dirty="0">
                <a:hlinkClick r:id="rId4"/>
              </a:rPr>
              <a:t>https://github.com/meghalawy/R-EGcompBio-/blob/main/K.P%20project</a:t>
            </a:r>
            <a:endParaRPr lang="en-US" dirty="0"/>
          </a:p>
          <a:p>
            <a:endParaRPr lang="en-US" dirty="0"/>
          </a:p>
        </p:txBody>
      </p:sp>
    </p:spTree>
    <p:extLst>
      <p:ext uri="{BB962C8B-B14F-4D97-AF65-F5344CB8AC3E}">
        <p14:creationId xmlns:p14="http://schemas.microsoft.com/office/powerpoint/2010/main" val="3684793955"/>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0C3F92-C0AD-4E73-8A22-9D413A456BAF}">
  <ds:schemaRefs>
    <ds:schemaRef ds:uri="http://schemas.microsoft.com/sharepoint/v3/contenttype/forms"/>
  </ds:schemaRefs>
</ds:datastoreItem>
</file>

<file path=customXml/itemProps2.xml><?xml version="1.0" encoding="utf-8"?>
<ds:datastoreItem xmlns:ds="http://schemas.openxmlformats.org/officeDocument/2006/customXml" ds:itemID="{975126FD-8B44-46F3-BEB2-D5456E76919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021420E-D6CD-4398-9C5C-03FBF68874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Leaf design</Template>
  <TotalTime>2050</TotalTime>
  <Words>1051</Words>
  <Application>Microsoft Office PowerPoint</Application>
  <PresentationFormat>Widescreen</PresentationFormat>
  <Paragraphs>53</Paragraphs>
  <Slides>17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Avenir Next LT Pro Light</vt:lpstr>
      <vt:lpstr>Calibri</vt:lpstr>
      <vt:lpstr>KievitWeb</vt:lpstr>
      <vt:lpstr>Rockwell Nova Light</vt:lpstr>
      <vt:lpstr>Wingdings</vt:lpstr>
      <vt:lpstr>LeafVTI</vt:lpstr>
      <vt:lpstr>DAV-R WS2024Graduation Project by: Reem Assad El-Meghalawy  Bachelor of Veterinary Medicine- Food Safety &amp; Hygiene  Diploma in Animal Microbiology and Immunology  Mansoura University   </vt:lpstr>
      <vt:lpstr>Abstract</vt:lpstr>
      <vt:lpstr>Pipeline Structure</vt:lpstr>
      <vt:lpstr>Data source and Acquisition</vt:lpstr>
      <vt:lpstr>Data Wrangling (cleaning &amp; Preprocessing) </vt:lpstr>
      <vt:lpstr> Exploratory Data Analysis   Distribution shows the top ten most frequently isolated microorganisms</vt:lpstr>
      <vt:lpstr>here's a picture from the New York Endovascular Summit, back in December 2024 lecture: Interpretation of a C&amp;S Report by Dr. Mark A Kosinski</vt:lpstr>
      <vt:lpstr>PowerPoint Presentation</vt:lpstr>
      <vt:lpstr>Temporal Trends in Klebsiella Pneumoniae resistance rate </vt:lpstr>
      <vt:lpstr>Distribution of resistance rate for Klebsiella Pneumoniae according to Culture type </vt:lpstr>
      <vt:lpstr>Antibiotic Resistance according to classes</vt:lpstr>
      <vt:lpstr>PowerPoint Presentation</vt:lpstr>
      <vt:lpstr>Illustration of the proportion of inpatient vs outpatient cultures and the correlation between k.pneumoniae and nosocomial Infection </vt:lpstr>
      <vt:lpstr>Visualizing the relationship between age and Klebsiella pneumoniae infection</vt:lpstr>
      <vt:lpstr>Key Message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Reem Elmeghalawy</dc:creator>
  <cp:lastModifiedBy>Reem Elmeghalawy</cp:lastModifiedBy>
  <cp:revision>15</cp:revision>
  <dcterms:created xsi:type="dcterms:W3CDTF">2025-04-18T14:09:31Z</dcterms:created>
  <dcterms:modified xsi:type="dcterms:W3CDTF">2025-04-20T00:19:51Z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